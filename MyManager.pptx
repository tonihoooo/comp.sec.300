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22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fi-FI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68" d="100"/>
          <a:sy n="68" d="100"/>
        </p:scale>
        <p:origin x="88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Ylätunnisteen paikkamerkki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i-FI"/>
          </a:p>
        </p:txBody>
      </p:sp>
      <p:sp>
        <p:nvSpPr>
          <p:cNvPr id="3" name="Päivämäärän paikkamerkki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E1F8467-FE61-4FB0-9525-4133474C28E4}" type="datetimeFigureOut">
              <a:rPr lang="fi-FI" smtClean="0"/>
              <a:t>18.5.2026</a:t>
            </a:fld>
            <a:endParaRPr lang="fi-FI"/>
          </a:p>
        </p:txBody>
      </p:sp>
      <p:sp>
        <p:nvSpPr>
          <p:cNvPr id="4" name="Dian kuvan paikkamerkki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i-FI"/>
          </a:p>
        </p:txBody>
      </p:sp>
      <p:sp>
        <p:nvSpPr>
          <p:cNvPr id="5" name="Huomautusten paikkamerkki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i-FI"/>
              <a:t>Muokkaa tekstin perustyylejä napsauttamalla</a:t>
            </a:r>
          </a:p>
          <a:p>
            <a:pPr lvl="1"/>
            <a:r>
              <a:rPr lang="fi-FI"/>
              <a:t>toinen taso</a:t>
            </a:r>
          </a:p>
          <a:p>
            <a:pPr lvl="2"/>
            <a:r>
              <a:rPr lang="fi-FI"/>
              <a:t>kolmas taso</a:t>
            </a:r>
          </a:p>
          <a:p>
            <a:pPr lvl="3"/>
            <a:r>
              <a:rPr lang="fi-FI"/>
              <a:t>neljäs taso</a:t>
            </a:r>
          </a:p>
          <a:p>
            <a:pPr lvl="4"/>
            <a:r>
              <a:rPr lang="fi-FI"/>
              <a:t>viides taso</a:t>
            </a:r>
          </a:p>
        </p:txBody>
      </p:sp>
      <p:sp>
        <p:nvSpPr>
          <p:cNvPr id="6" name="Alatunnisteen paikkamerkki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i-FI"/>
          </a:p>
        </p:txBody>
      </p:sp>
      <p:sp>
        <p:nvSpPr>
          <p:cNvPr id="7" name="Dian numeron paikkamerkki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F27D120-A71B-4047-AB70-FC2EE207E1C5}" type="slidenum">
              <a:rPr lang="fi-FI" smtClean="0"/>
              <a:t>‹#›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20527989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n kuvan paikkamerkki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Huomautusten paikkamerkki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i-FI" dirty="0"/>
              <a:t>demo</a:t>
            </a:r>
          </a:p>
        </p:txBody>
      </p:sp>
      <p:sp>
        <p:nvSpPr>
          <p:cNvPr id="4" name="Dian numeron paikkamerkki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7D120-A71B-4047-AB70-FC2EE207E1C5}" type="slidenum">
              <a:rPr lang="fi-FI" smtClean="0"/>
              <a:t>1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9716603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n kuvan paikkamerkki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Huomautusten paikkamerkki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Libsodium</a:t>
            </a:r>
            <a:r>
              <a:rPr lang="en-US" dirty="0"/>
              <a:t> is a high-level cryptographic library that replaces error-prone custom encryption with well-tested, industry-standard primitives</a:t>
            </a:r>
          </a:p>
          <a:p>
            <a:endParaRPr lang="en-US" dirty="0"/>
          </a:p>
          <a:p>
            <a:r>
              <a:rPr lang="en-US" dirty="0"/>
              <a:t>Catch2 is used to automate correctness verification of critical components like encryption, storage, and vault logic.</a:t>
            </a:r>
            <a:endParaRPr lang="fi-FI" dirty="0"/>
          </a:p>
        </p:txBody>
      </p:sp>
      <p:sp>
        <p:nvSpPr>
          <p:cNvPr id="4" name="Dian numeron paikkamerkki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7D120-A71B-4047-AB70-FC2EE207E1C5}" type="slidenum">
              <a:rPr lang="fi-FI" smtClean="0"/>
              <a:t>2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97192378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n kuvan paikkamerkki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Huomautusten paikkamerkki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ENCRYPT</a:t>
            </a:r>
          </a:p>
          <a:p>
            <a:endParaRPr lang="en-US" dirty="0"/>
          </a:p>
          <a:p>
            <a:r>
              <a:rPr lang="en-US" dirty="0"/>
              <a:t>A unique salt is generated for every encryption.</a:t>
            </a:r>
          </a:p>
          <a:p>
            <a:endParaRPr lang="en-US" dirty="0"/>
          </a:p>
          <a:p>
            <a:r>
              <a:rPr lang="en-US" dirty="0"/>
              <a:t>memory-hard function. This slows down brute-force attacks and strengthens weak passwords</a:t>
            </a:r>
          </a:p>
          <a:p>
            <a:endParaRPr lang="en-US" dirty="0"/>
          </a:p>
          <a:p>
            <a:r>
              <a:rPr lang="en-US" dirty="0" err="1"/>
              <a:t>Crypto_secretbox</a:t>
            </a:r>
            <a:r>
              <a:rPr lang="en-US" dirty="0"/>
              <a:t>: This performs authenticated encryption. It ensures both confidentiality and </a:t>
            </a:r>
            <a:r>
              <a:rPr lang="en-US" dirty="0" err="1"/>
              <a:t>integrit</a:t>
            </a:r>
            <a:endParaRPr lang="en-US" dirty="0"/>
          </a:p>
          <a:p>
            <a:endParaRPr lang="en-US" dirty="0"/>
          </a:p>
          <a:p>
            <a:r>
              <a:rPr lang="en-US" dirty="0"/>
              <a:t>“The nonce ensures that encrypting the same data twice produces different ciphertexts, preventing pattern analysis.”</a:t>
            </a:r>
          </a:p>
          <a:p>
            <a:endParaRPr lang="en-US" dirty="0"/>
          </a:p>
          <a:p>
            <a:r>
              <a:rPr lang="en-US" dirty="0"/>
              <a:t>DECRYPT</a:t>
            </a:r>
          </a:p>
          <a:p>
            <a:endParaRPr lang="en-US" dirty="0"/>
          </a:p>
          <a:p>
            <a:r>
              <a:rPr lang="en-US" dirty="0"/>
              <a:t>“We first extract salt, nonce, and ciphertext from the stored binary format.”</a:t>
            </a:r>
          </a:p>
          <a:p>
            <a:endParaRPr lang="en-US" dirty="0"/>
          </a:p>
          <a:p>
            <a:r>
              <a:rPr lang="en-US" dirty="0"/>
              <a:t>crypto:_</a:t>
            </a:r>
            <a:r>
              <a:rPr lang="en-US" dirty="0" err="1"/>
              <a:t>secretbox</a:t>
            </a:r>
            <a:r>
              <a:rPr lang="en-US" dirty="0"/>
              <a:t>: “This step both decrypts and verifies integrity. If anything is incorrect — wrong password, corrupted file, or tampering — it fails.</a:t>
            </a:r>
          </a:p>
          <a:p>
            <a:endParaRPr lang="fi-FI" dirty="0"/>
          </a:p>
          <a:p>
            <a:endParaRPr lang="fi-FI" dirty="0"/>
          </a:p>
          <a:p>
            <a:r>
              <a:rPr lang="fi-FI" dirty="0"/>
              <a:t>FILE FORMAT DESIGN:</a:t>
            </a:r>
          </a:p>
          <a:p>
            <a:r>
              <a:rPr lang="fi-FI" dirty="0" err="1"/>
              <a:t>Specific</a:t>
            </a:r>
            <a:r>
              <a:rPr lang="fi-FI" dirty="0"/>
              <a:t> </a:t>
            </a:r>
            <a:r>
              <a:rPr lang="fi-FI" dirty="0" err="1"/>
              <a:t>format</a:t>
            </a:r>
            <a:r>
              <a:rPr lang="fi-FI" dirty="0"/>
              <a:t>, MAGIC -&gt; VERSION -&gt; DATA</a:t>
            </a:r>
          </a:p>
          <a:p>
            <a:endParaRPr lang="fi-FI" dirty="0"/>
          </a:p>
          <a:p>
            <a:r>
              <a:rPr lang="fi-FI" dirty="0"/>
              <a:t>MEEMORYLEAKPREVENTION:</a:t>
            </a:r>
          </a:p>
          <a:p>
            <a:endParaRPr lang="fi-FI" dirty="0"/>
          </a:p>
          <a:p>
            <a:r>
              <a:rPr lang="fi-FI" dirty="0"/>
              <a:t>Show </a:t>
            </a:r>
            <a:r>
              <a:rPr lang="fi-FI" dirty="0" err="1"/>
              <a:t>end</a:t>
            </a:r>
            <a:r>
              <a:rPr lang="fi-FI" dirty="0"/>
              <a:t> of main</a:t>
            </a:r>
          </a:p>
        </p:txBody>
      </p:sp>
      <p:sp>
        <p:nvSpPr>
          <p:cNvPr id="4" name="Dian numeron paikkamerkki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7D120-A71B-4047-AB70-FC2EE207E1C5}" type="slidenum">
              <a:rPr lang="fi-FI" smtClean="0"/>
              <a:t>3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148334819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n kuvan paikkamerkki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Huomautusten paikkamerkki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i-FI" dirty="0"/>
              <a:t>Show some </a:t>
            </a:r>
            <a:r>
              <a:rPr lang="fi-FI" dirty="0" err="1"/>
              <a:t>test</a:t>
            </a:r>
            <a:r>
              <a:rPr lang="fi-FI" dirty="0"/>
              <a:t> </a:t>
            </a:r>
            <a:r>
              <a:rPr lang="fi-FI" dirty="0" err="1"/>
              <a:t>cases</a:t>
            </a:r>
            <a:endParaRPr lang="fi-FI" dirty="0"/>
          </a:p>
          <a:p>
            <a:r>
              <a:rPr lang="fi-FI" dirty="0"/>
              <a:t>Show </a:t>
            </a:r>
            <a:r>
              <a:rPr lang="fi-FI" dirty="0" err="1"/>
              <a:t>terminal</a:t>
            </a:r>
            <a:endParaRPr lang="fi-FI" dirty="0"/>
          </a:p>
          <a:p>
            <a:r>
              <a:rPr lang="fi-FI" dirty="0"/>
              <a:t>Show catch.hpp</a:t>
            </a:r>
          </a:p>
          <a:p>
            <a:r>
              <a:rPr lang="fi-FI" dirty="0"/>
              <a:t>Tell </a:t>
            </a:r>
            <a:r>
              <a:rPr lang="fi-FI" dirty="0" err="1"/>
              <a:t>that</a:t>
            </a:r>
            <a:r>
              <a:rPr lang="fi-FI" dirty="0"/>
              <a:t> </a:t>
            </a:r>
            <a:r>
              <a:rPr lang="fi-FI" dirty="0" err="1"/>
              <a:t>it’s</a:t>
            </a:r>
            <a:r>
              <a:rPr lang="fi-FI" dirty="0"/>
              <a:t> baby </a:t>
            </a:r>
            <a:r>
              <a:rPr lang="fi-FI" dirty="0" err="1"/>
              <a:t>steps</a:t>
            </a:r>
            <a:r>
              <a:rPr lang="fi-FI" dirty="0"/>
              <a:t> atm</a:t>
            </a:r>
          </a:p>
        </p:txBody>
      </p:sp>
      <p:sp>
        <p:nvSpPr>
          <p:cNvPr id="4" name="Dian numeron paikkamerkki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7D120-A71B-4047-AB70-FC2EE207E1C5}" type="slidenum">
              <a:rPr lang="fi-FI" smtClean="0"/>
              <a:t>4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164925786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n kuvan paikkamerkki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Huomautusten paikkamerkki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i-FI" dirty="0" err="1"/>
              <a:t>Openai</a:t>
            </a:r>
            <a:r>
              <a:rPr lang="fi-FI" dirty="0"/>
              <a:t>, </a:t>
            </a:r>
            <a:r>
              <a:rPr lang="fi-FI" dirty="0" err="1"/>
              <a:t>latest</a:t>
            </a:r>
            <a:r>
              <a:rPr lang="fi-FI" dirty="0"/>
              <a:t> </a:t>
            </a:r>
            <a:r>
              <a:rPr lang="fi-FI" dirty="0" err="1"/>
              <a:t>chatgpt</a:t>
            </a:r>
            <a:endParaRPr lang="fi-FI" dirty="0"/>
          </a:p>
          <a:p>
            <a:r>
              <a:rPr lang="fi-FI" dirty="0" err="1"/>
              <a:t>Copilot</a:t>
            </a:r>
            <a:r>
              <a:rPr lang="fi-FI" dirty="0"/>
              <a:t> in </a:t>
            </a:r>
            <a:r>
              <a:rPr lang="fi-FI" dirty="0" err="1"/>
              <a:t>vscode</a:t>
            </a:r>
            <a:endParaRPr lang="fi-FI" dirty="0"/>
          </a:p>
        </p:txBody>
      </p:sp>
      <p:sp>
        <p:nvSpPr>
          <p:cNvPr id="4" name="Dian numeron paikkamerkki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7D120-A71B-4047-AB70-FC2EE207E1C5}" type="slidenum">
              <a:rPr lang="fi-FI" smtClean="0"/>
              <a:t>5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105770191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ian kuvan paikkamerkki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Huomautusten paikkamerkki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i-FI" dirty="0"/>
              <a:t>User input </a:t>
            </a:r>
            <a:r>
              <a:rPr lang="fi-FI" dirty="0" err="1"/>
              <a:t>especilly</a:t>
            </a:r>
            <a:r>
              <a:rPr lang="fi-FI" dirty="0"/>
              <a:t> </a:t>
            </a:r>
            <a:r>
              <a:rPr lang="fi-FI" dirty="0" err="1"/>
              <a:t>with</a:t>
            </a:r>
            <a:r>
              <a:rPr lang="fi-FI" dirty="0"/>
              <a:t> </a:t>
            </a:r>
            <a:r>
              <a:rPr lang="fi-FI" dirty="0" err="1"/>
              <a:t>spaces</a:t>
            </a:r>
            <a:r>
              <a:rPr lang="fi-FI" dirty="0"/>
              <a:t> </a:t>
            </a:r>
            <a:r>
              <a:rPr lang="fi-FI" dirty="0" err="1"/>
              <a:t>tricky</a:t>
            </a:r>
            <a:r>
              <a:rPr lang="fi-FI" dirty="0"/>
              <a:t>, </a:t>
            </a:r>
            <a:r>
              <a:rPr lang="fi-FI" dirty="0" err="1"/>
              <a:t>needs</a:t>
            </a:r>
            <a:r>
              <a:rPr lang="fi-FI" dirty="0"/>
              <a:t> </a:t>
            </a:r>
            <a:r>
              <a:rPr lang="fi-FI" dirty="0" err="1"/>
              <a:t>clever</a:t>
            </a:r>
            <a:r>
              <a:rPr lang="fi-FI" dirty="0"/>
              <a:t> </a:t>
            </a:r>
            <a:r>
              <a:rPr lang="fi-FI" dirty="0" err="1"/>
              <a:t>user</a:t>
            </a:r>
            <a:r>
              <a:rPr lang="fi-FI" dirty="0"/>
              <a:t> atm</a:t>
            </a:r>
          </a:p>
          <a:p>
            <a:endParaRPr lang="fi-FI" dirty="0"/>
          </a:p>
          <a:p>
            <a:r>
              <a:rPr lang="fi-FI" dirty="0"/>
              <a:t>Master </a:t>
            </a:r>
            <a:r>
              <a:rPr lang="fi-FI" dirty="0" err="1"/>
              <a:t>password</a:t>
            </a:r>
            <a:r>
              <a:rPr lang="fi-FI" dirty="0"/>
              <a:t> </a:t>
            </a:r>
            <a:r>
              <a:rPr lang="fi-FI" dirty="0" err="1"/>
              <a:t>has</a:t>
            </a:r>
            <a:r>
              <a:rPr lang="fi-FI" dirty="0"/>
              <a:t> no </a:t>
            </a:r>
            <a:r>
              <a:rPr lang="fi-FI" dirty="0" err="1"/>
              <a:t>functionality</a:t>
            </a:r>
            <a:r>
              <a:rPr lang="fi-FI" dirty="0"/>
              <a:t> to </a:t>
            </a:r>
            <a:r>
              <a:rPr lang="fi-FI" dirty="0" err="1"/>
              <a:t>be</a:t>
            </a:r>
            <a:r>
              <a:rPr lang="fi-FI" dirty="0"/>
              <a:t> </a:t>
            </a:r>
            <a:r>
              <a:rPr lang="fi-FI" dirty="0" err="1"/>
              <a:t>reseted</a:t>
            </a:r>
            <a:r>
              <a:rPr lang="fi-FI" dirty="0"/>
              <a:t>, </a:t>
            </a:r>
            <a:r>
              <a:rPr lang="fi-FI" dirty="0" err="1"/>
              <a:t>all</a:t>
            </a:r>
            <a:r>
              <a:rPr lang="fi-FI" dirty="0"/>
              <a:t> data is </a:t>
            </a:r>
            <a:r>
              <a:rPr lang="fi-FI" dirty="0" err="1"/>
              <a:t>lost</a:t>
            </a:r>
            <a:r>
              <a:rPr lang="fi-FI" dirty="0"/>
              <a:t> </a:t>
            </a:r>
            <a:r>
              <a:rPr lang="fi-FI" dirty="0" err="1"/>
              <a:t>if</a:t>
            </a:r>
            <a:r>
              <a:rPr lang="fi-FI" dirty="0"/>
              <a:t> </a:t>
            </a:r>
            <a:r>
              <a:rPr lang="fi-FI" dirty="0" err="1"/>
              <a:t>forgotten</a:t>
            </a:r>
            <a:endParaRPr lang="fi-FI" dirty="0"/>
          </a:p>
        </p:txBody>
      </p:sp>
      <p:sp>
        <p:nvSpPr>
          <p:cNvPr id="4" name="Dian numeron paikkamerkki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27D120-A71B-4047-AB70-FC2EE207E1C5}" type="slidenum">
              <a:rPr lang="fi-FI" smtClean="0"/>
              <a:t>6</a:t>
            </a:fld>
            <a:endParaRPr lang="fi-FI"/>
          </a:p>
        </p:txBody>
      </p:sp>
    </p:spTree>
    <p:extLst>
      <p:ext uri="{BB962C8B-B14F-4D97-AF65-F5344CB8AC3E}">
        <p14:creationId xmlns:p14="http://schemas.microsoft.com/office/powerpoint/2010/main" val="1189222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53B052-A59B-4AE3-A89A-E7748630C1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BDA9EC4-FEA9-41D2-BE8D-F709F01D37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E155CF-52F5-4879-B7F3-D05812AC4A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3D55F9-11A3-4523-8F38-6BA37933791A}" type="datetime1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D053AC-61ED-4C2F-90BF-D4A9165451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8B2ED7-A198-4613-B8C9-EE02BAE24F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71338-8BA2-4C79-A6C5-5A8E30081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3428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B98991-AEF1-4F19-AAB8-436EAD58C2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25B44F-E7DA-40C6-8B44-71EAB6BDFC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228600" indent="-228600">
              <a:buFont typeface="Arial" panose="020B0604020202020204" pitchFamily="34" charset="0"/>
              <a:buChar char="•"/>
              <a:defRPr/>
            </a:lvl1pPr>
            <a:lvl2pPr marL="228600" indent="-228600">
              <a:buFont typeface="Arial" panose="020B0604020202020204" pitchFamily="34" charset="0"/>
              <a:buChar char="•"/>
              <a:defRPr/>
            </a:lvl2pPr>
            <a:lvl3pPr marL="228600" indent="-228600">
              <a:buFont typeface="Arial" panose="020B0604020202020204" pitchFamily="34" charset="0"/>
              <a:buChar char="•"/>
              <a:defRPr/>
            </a:lvl3pPr>
            <a:lvl4pPr marL="228600" indent="-228600">
              <a:buFont typeface="Arial" panose="020B0604020202020204" pitchFamily="34" charset="0"/>
              <a:buChar char="•"/>
              <a:defRPr/>
            </a:lvl4pPr>
            <a:lvl5pPr marL="228600" indent="-228600">
              <a:buFont typeface="Arial" panose="020B0604020202020204" pitchFamily="34" charset="0"/>
              <a:buChar char="•"/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F71817-A045-48C0-975B-CBEF88E956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B9D56B-6EBE-4E5F-99D9-2A3DBDF37D0A}" type="datetime1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1C39F0-32D4-407C-8BCA-97F2D9E500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9CF4459-37B2-4F87-B508-DB04D43320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71338-8BA2-4C79-A6C5-5A8E30081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613594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CBBD03-9D57-48E9-8B43-688B729972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709738"/>
            <a:ext cx="10890250" cy="2852737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3F376C-8A2F-4BE5-9669-4A6DA21B771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4589463"/>
            <a:ext cx="10890250" cy="1500187"/>
          </a:xfrm>
        </p:spPr>
        <p:txBody>
          <a:bodyPr/>
          <a:lstStyle>
            <a:lvl1pPr marL="0" indent="0">
              <a:buNone/>
              <a:defRPr sz="2400">
                <a:solidFill>
                  <a:srgbClr val="FFFFFF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654893-212E-4450-8F7A-27256B31F9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33F3CA-C7E3-432D-9282-18F13836509A}" type="datetime1">
              <a:rPr lang="en-US" smtClean="0"/>
              <a:t>5/18/2026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0E881A-3958-44A9-9EDB-D86F4E4144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EDBC4F-D9B8-4BFA-BE4F-D4B9B739D1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71338-8BA2-4C79-A6C5-5A8E30081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90602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DC8777-C460-4649-8822-CA943386D0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DF69E6-1094-437B-AA7E-0E21B7136CC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1825625"/>
            <a:ext cx="5562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20BC963-4591-4BE3-AE63-4999A13C50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504D5BB-DB84-4266-9B4F-E65CCFE5B3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BE9C62-1337-40B8-BA50-E9F4861DB4BC}" type="datetime1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91A99B5-D493-4AB1-AF24-6660540D56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FE178D0-5F1E-43FA-B447-53501EDD17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71338-8BA2-4C79-A6C5-5A8E30081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92670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DC85CC-8D2B-4219-A2A4-1625A02DFE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6143C8-1CF7-440E-99A3-0527314598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820863"/>
            <a:ext cx="5157787" cy="1150937"/>
          </a:xfrm>
        </p:spPr>
        <p:txBody>
          <a:bodyPr anchor="b"/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EFF5CA-4662-4430-80C7-99CD7D66C9C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3101975"/>
            <a:ext cx="5157787" cy="30876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76CB5B7-DC23-41CE-872B-E25BD64F84A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20863"/>
            <a:ext cx="5183188" cy="1150937"/>
          </a:xfrm>
        </p:spPr>
        <p:txBody>
          <a:bodyPr anchor="b"/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DF7633C-C24D-4947-979C-132B3AC405A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3101975"/>
            <a:ext cx="5183188" cy="30876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E8A46E1-3934-4807-900F-CA7A4D8D66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C195EB-2DA3-4B24-8725-19BC22A7BE50}" type="datetime1">
              <a:rPr lang="en-US" smtClean="0"/>
              <a:t>5/18/2026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BC9C6EA-1549-4601-8226-E5C43469CA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3658246-003D-4024-9F4B-BA3BD3FBFF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71338-8BA2-4C79-A6C5-5A8E30081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13407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B2DD4C-BFBC-4087-B94C-4DD0690E8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EB9D434-8228-4C7F-B520-14121EBC90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E237E6-0076-4915-A5A8-B7C11FA4F374}" type="datetime1">
              <a:rPr lang="en-US" smtClean="0"/>
              <a:t>5/18/2026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97B89BD-A70A-48D2-A3D9-DB2C0DB123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4ACF4EF-5A2A-4A47-81DF-80CB513060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71338-8BA2-4C79-A6C5-5A8E30081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17834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18B9F00-8450-475B-B155-993BAF212A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05F58F-C0B5-422A-8E5A-6B99E5D80F0A}" type="datetime1">
              <a:rPr lang="en-US" smtClean="0"/>
              <a:t>5/18/2026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C0FDDA3-8E6F-42F7-BFBE-7FA9C647CA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C8E678-81B8-4356-9624-A0B9995363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71338-8BA2-4C79-A6C5-5A8E30081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134546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010DAA-DDE3-4C9C-8171-385A3DAC81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685800"/>
            <a:ext cx="3932237" cy="1981200"/>
          </a:xfrm>
        </p:spPr>
        <p:txBody>
          <a:bodyPr anchor="b"/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F73DB2-BD72-4F5E-9CA2-197343A090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685801"/>
            <a:ext cx="6172200" cy="517525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1F01536-2B0A-42A2-827E-2EB2C324A5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971800"/>
            <a:ext cx="3932237" cy="28971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22CD09-61EF-4733-831C-5B133DAE1F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65E655-9687-48DF-A33F-F8824CCCB5D1}" type="datetime1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109FCF-96E4-4EBF-AAFB-5E9AD22A68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E381A6-E580-49A4-989C-EF4A54F83B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71338-8BA2-4C79-A6C5-5A8E30081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51447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CCFA6E-F719-4613-8815-591471E722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685800"/>
            <a:ext cx="3932237" cy="2209799"/>
          </a:xfrm>
        </p:spPr>
        <p:txBody>
          <a:bodyPr anchor="b"/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54384F3-CDE0-4329-B76D-45AAC94B04A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685801"/>
            <a:ext cx="6172200" cy="517525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9A9D7EB-40DA-460F-A48A-3E6D5E5612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971800"/>
            <a:ext cx="3932237" cy="28971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E56944C-E229-457E-868E-C48FF47DA3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97FD56A-AAB8-4544-A495-D0645413C9E3}" type="datetime1">
              <a:rPr lang="en-US" smtClean="0"/>
              <a:t>5/18/2026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C7115FE-359F-46EA-A3C8-0D18544E34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5165D17-3010-4FF5-9071-5CCD3E6995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71338-8BA2-4C79-A6C5-5A8E30081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30012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B47DD-81F8-4128-9E50-04A9F2D3DC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56564D1-2B83-4C0F-ACBA-E91472C50A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6FA1D7D-D2EC-4ADB-9C65-191DEC82DD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4E757A-3EC2-4683-9080-1A460C37C843}" type="datetime1">
              <a:rPr lang="en-US" smtClean="0"/>
              <a:t>5/18/2026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4CB571-86F9-474A-826A-75CC21C883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384F5F-50E6-4BB9-B848-EE2302C02A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71338-8BA2-4C79-A6C5-5A8E30081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66130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E3F08DF-1C0D-4F53-A3AB-95D7B55FA0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0D3BBD-C494-4E94-B189-319802A93E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3C0BD9-4BED-43D3-852F-B74B949A228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23539" y="6324600"/>
            <a:ext cx="2560220" cy="365125"/>
          </a:xfrm>
        </p:spPr>
        <p:txBody>
          <a:bodyPr/>
          <a:lstStyle/>
          <a:p>
            <a:fld id="{5CC8096C-64ED-4153-A483-5C02E44AD5C3}" type="datetime1">
              <a:rPr lang="en-US" smtClean="0"/>
              <a:t>5/18/2026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B7811DC-C725-4462-B622-DB96A89876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67200" y="6319838"/>
            <a:ext cx="3982781" cy="365125"/>
          </a:xfrm>
        </p:spPr>
        <p:txBody>
          <a:bodyPr/>
          <a:lstStyle/>
          <a:p>
            <a:r>
              <a:rPr lang="en-US"/>
              <a:t>Sample Footer Text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C42D06-438F-4150-9238-E2FAEE5E28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A71338-8BA2-4C79-A6C5-5A8E30081D0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79994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Rectangle 114">
            <a:extLst>
              <a:ext uri="{FF2B5EF4-FFF2-40B4-BE49-F238E27FC236}">
                <a16:creationId xmlns:a16="http://schemas.microsoft.com/office/drawing/2014/main" id="{A4798C7F-C8CA-4799-BF37-3AB4642CDB66}"/>
              </a:ext>
            </a:extLst>
          </p:cNvPr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grpSp>
        <p:nvGrpSpPr>
          <p:cNvPr id="80" name="Group 79">
            <a:extLst>
              <a:ext uri="{FF2B5EF4-FFF2-40B4-BE49-F238E27FC236}">
                <a16:creationId xmlns:a16="http://schemas.microsoft.com/office/drawing/2014/main" id="{87F0794B-55D3-4D2D-BDE7-4688ED321E42}"/>
              </a:ext>
            </a:extLst>
          </p:cNvPr>
          <p:cNvGrpSpPr/>
          <p:nvPr/>
        </p:nvGrpSpPr>
        <p:grpSpPr>
          <a:xfrm>
            <a:off x="-11413" y="0"/>
            <a:ext cx="12214827" cy="6858000"/>
            <a:chOff x="-6214" y="-1"/>
            <a:chExt cx="12214827" cy="6858000"/>
          </a:xfrm>
        </p:grpSpPr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BE4C795B-1813-4CC6-B03F-8DD130BEAABD}"/>
                </a:ext>
              </a:extLst>
            </p:cNvPr>
            <p:cNvCxnSpPr>
              <a:cxnSpLocks/>
            </p:cNvCxnSpPr>
            <p:nvPr/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Straight Connector 81">
              <a:extLst>
                <a:ext uri="{FF2B5EF4-FFF2-40B4-BE49-F238E27FC236}">
                  <a16:creationId xmlns:a16="http://schemas.microsoft.com/office/drawing/2014/main" id="{E0F4C04D-5CD8-446B-BE3D-257172E6E4CB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FDDC802E-606F-4F39-84B6-90DF0FE54461}"/>
                </a:ext>
              </a:extLst>
            </p:cNvPr>
            <p:cNvCxnSpPr>
              <a:cxnSpLocks/>
            </p:cNvCxnSpPr>
            <p:nvPr/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2C5B0C75-0136-4A39-9AB6-0F02C4527810}"/>
                </a:ext>
              </a:extLst>
            </p:cNvPr>
            <p:cNvCxnSpPr>
              <a:cxnSpLocks/>
            </p:cNvCxnSpPr>
            <p:nvPr/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C5ED2B52-3D40-46DE-8B54-99A4071578D8}"/>
                </a:ext>
              </a:extLst>
            </p:cNvPr>
            <p:cNvCxnSpPr>
              <a:cxnSpLocks/>
            </p:cNvCxnSpPr>
            <p:nvPr/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18BCEC75-1B6B-45B2-8041-8D933FCF60F5}"/>
                </a:ext>
              </a:extLst>
            </p:cNvPr>
            <p:cNvCxnSpPr>
              <a:cxnSpLocks/>
            </p:cNvCxnSpPr>
            <p:nvPr/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6A2FC789-056A-43CC-807E-4262CDC3E0F5}"/>
                </a:ext>
              </a:extLst>
            </p:cNvPr>
            <p:cNvCxnSpPr>
              <a:cxnSpLocks/>
            </p:cNvCxnSpPr>
            <p:nvPr/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48C32FD3-76B0-40E7-89F2-E9C523210AF4}"/>
                </a:ext>
              </a:extLst>
            </p:cNvPr>
            <p:cNvCxnSpPr>
              <a:cxnSpLocks/>
            </p:cNvCxnSpPr>
            <p:nvPr/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B82E9447-8362-426C-840A-B6F2231F7BCC}"/>
                </a:ext>
              </a:extLst>
            </p:cNvPr>
            <p:cNvCxnSpPr>
              <a:cxnSpLocks/>
            </p:cNvCxnSpPr>
            <p:nvPr/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2F141DC8-83CE-4C21-A5BA-E2FFF3D866EF}"/>
                </a:ext>
              </a:extLst>
            </p:cNvPr>
            <p:cNvCxnSpPr>
              <a:cxnSpLocks/>
            </p:cNvCxnSpPr>
            <p:nvPr/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Straight Connector 91">
              <a:extLst>
                <a:ext uri="{FF2B5EF4-FFF2-40B4-BE49-F238E27FC236}">
                  <a16:creationId xmlns:a16="http://schemas.microsoft.com/office/drawing/2014/main" id="{512A697C-ECBC-40A9-AC69-BF96A34B91AF}"/>
                </a:ext>
              </a:extLst>
            </p:cNvPr>
            <p:cNvCxnSpPr>
              <a:cxnSpLocks/>
            </p:cNvCxnSpPr>
            <p:nvPr/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Straight Connector 92">
              <a:extLst>
                <a:ext uri="{FF2B5EF4-FFF2-40B4-BE49-F238E27FC236}">
                  <a16:creationId xmlns:a16="http://schemas.microsoft.com/office/drawing/2014/main" id="{D2E988AF-5EFB-43D3-B93F-6E4F41A2C90B}"/>
                </a:ext>
              </a:extLst>
            </p:cNvPr>
            <p:cNvCxnSpPr>
              <a:cxnSpLocks/>
            </p:cNvCxnSpPr>
            <p:nvPr/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Straight Connector 93">
              <a:extLst>
                <a:ext uri="{FF2B5EF4-FFF2-40B4-BE49-F238E27FC236}">
                  <a16:creationId xmlns:a16="http://schemas.microsoft.com/office/drawing/2014/main" id="{6B312C1B-AAE2-4A6D-ACC7-ABAA75D42854}"/>
                </a:ext>
              </a:extLst>
            </p:cNvPr>
            <p:cNvCxnSpPr>
              <a:cxnSpLocks/>
            </p:cNvCxnSpPr>
            <p:nvPr/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Straight Connector 94">
              <a:extLst>
                <a:ext uri="{FF2B5EF4-FFF2-40B4-BE49-F238E27FC236}">
                  <a16:creationId xmlns:a16="http://schemas.microsoft.com/office/drawing/2014/main" id="{57B96146-61DA-44D6-A9DF-6DB41FCF2D80}"/>
                </a:ext>
              </a:extLst>
            </p:cNvPr>
            <p:cNvCxnSpPr>
              <a:cxnSpLocks/>
            </p:cNvCxnSpPr>
            <p:nvPr/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Straight Connector 95">
              <a:extLst>
                <a:ext uri="{FF2B5EF4-FFF2-40B4-BE49-F238E27FC236}">
                  <a16:creationId xmlns:a16="http://schemas.microsoft.com/office/drawing/2014/main" id="{6B33F93D-4439-46EE-97C4-9CECAAFDCF60}"/>
                </a:ext>
              </a:extLst>
            </p:cNvPr>
            <p:cNvCxnSpPr>
              <a:cxnSpLocks/>
            </p:cNvCxnSpPr>
            <p:nvPr/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Straight Connector 96">
              <a:extLst>
                <a:ext uri="{FF2B5EF4-FFF2-40B4-BE49-F238E27FC236}">
                  <a16:creationId xmlns:a16="http://schemas.microsoft.com/office/drawing/2014/main" id="{5914B275-A3D7-4BA4-B8CB-E7657100F3AD}"/>
                </a:ext>
              </a:extLst>
            </p:cNvPr>
            <p:cNvCxnSpPr>
              <a:cxnSpLocks/>
            </p:cNvCxnSpPr>
            <p:nvPr/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BD26EF3B-FBE7-4D57-8E01-553F50734A6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6CC1E671-BA54-4B31-9A2E-8F50BC57A26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A836A704-3624-4ABF-9A67-0F52C2F3EFBF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5FDC385D-BA34-481F-A991-A776E0B19301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F1EF033A-D8FB-416B-AE51-4E098A27D68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Straight Connector 102">
              <a:extLst>
                <a:ext uri="{FF2B5EF4-FFF2-40B4-BE49-F238E27FC236}">
                  <a16:creationId xmlns:a16="http://schemas.microsoft.com/office/drawing/2014/main" id="{17C17B48-F458-4E9B-9331-56FCDC5B6AB2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Straight Connector 103">
              <a:extLst>
                <a:ext uri="{FF2B5EF4-FFF2-40B4-BE49-F238E27FC236}">
                  <a16:creationId xmlns:a16="http://schemas.microsoft.com/office/drawing/2014/main" id="{07E44A4B-D453-46F0-A83D-AF0B33D5C59F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346BEA9F-314B-440D-AE8D-21E1252EC5A0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Straight Connector 105">
              <a:extLst>
                <a:ext uri="{FF2B5EF4-FFF2-40B4-BE49-F238E27FC236}">
                  <a16:creationId xmlns:a16="http://schemas.microsoft.com/office/drawing/2014/main" id="{F15EAFD0-4869-4612-ACDE-ABC703104E88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A0F26706-7F23-4FF0-9CAF-F3C4F47C119D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C0195A72-345A-4E88-8D71-14DB3D1B607D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0DBF51A6-A3BC-49FE-BB01-E8992811774E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A78DF911-744C-419B-83DC-39F270BBF41F}"/>
                </a:ext>
              </a:extLst>
            </p:cNvPr>
            <p:cNvCxnSpPr>
              <a:cxnSpLocks/>
            </p:cNvCxnSpPr>
            <p:nvPr/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2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9" name="Freeform: Shape 148">
            <a:extLst>
              <a:ext uri="{FF2B5EF4-FFF2-40B4-BE49-F238E27FC236}">
                <a16:creationId xmlns:a16="http://schemas.microsoft.com/office/drawing/2014/main" id="{216BB147-20D5-4D93-BDA5-1BC614D6A4B2}"/>
              </a:ext>
            </a:extLst>
          </p:cNvPr>
          <p:cNvSpPr/>
          <p:nvPr/>
        </p:nvSpPr>
        <p:spPr>
          <a:xfrm>
            <a:off x="-6214" y="5014716"/>
            <a:ext cx="2800124" cy="1843284"/>
          </a:xfrm>
          <a:custGeom>
            <a:avLst/>
            <a:gdLst>
              <a:gd name="connsiteX0" fmla="*/ 375358 w 2800124"/>
              <a:gd name="connsiteY0" fmla="*/ 0 h 1843284"/>
              <a:gd name="connsiteX1" fmla="*/ 2781298 w 2800124"/>
              <a:gd name="connsiteY1" fmla="*/ 1770066 h 1843284"/>
              <a:gd name="connsiteX2" fmla="*/ 2800124 w 2800124"/>
              <a:gd name="connsiteY2" fmla="*/ 1843284 h 1843284"/>
              <a:gd name="connsiteX3" fmla="*/ 1987869 w 2800124"/>
              <a:gd name="connsiteY3" fmla="*/ 1843284 h 1843284"/>
              <a:gd name="connsiteX4" fmla="*/ 1986195 w 2800124"/>
              <a:gd name="connsiteY4" fmla="*/ 1838711 h 1843284"/>
              <a:gd name="connsiteX5" fmla="*/ 375357 w 2800124"/>
              <a:gd name="connsiteY5" fmla="*/ 770976 h 1843284"/>
              <a:gd name="connsiteX6" fmla="*/ 23030 w 2800124"/>
              <a:gd name="connsiteY6" fmla="*/ 806494 h 1843284"/>
              <a:gd name="connsiteX7" fmla="*/ 0 w 2800124"/>
              <a:gd name="connsiteY7" fmla="*/ 812415 h 1843284"/>
              <a:gd name="connsiteX8" fmla="*/ 0 w 2800124"/>
              <a:gd name="connsiteY8" fmla="*/ 30983 h 1843284"/>
              <a:gd name="connsiteX9" fmla="*/ 117785 w 2800124"/>
              <a:gd name="connsiteY9" fmla="*/ 13007 h 1843284"/>
              <a:gd name="connsiteX10" fmla="*/ 375358 w 2800124"/>
              <a:gd name="connsiteY10" fmla="*/ 0 h 18432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800124" h="1843284">
                <a:moveTo>
                  <a:pt x="375358" y="0"/>
                </a:moveTo>
                <a:cubicBezTo>
                  <a:pt x="1505802" y="0"/>
                  <a:pt x="2462339" y="744579"/>
                  <a:pt x="2781298" y="1770066"/>
                </a:cubicBezTo>
                <a:lnTo>
                  <a:pt x="2800124" y="1843284"/>
                </a:lnTo>
                <a:lnTo>
                  <a:pt x="1987869" y="1843284"/>
                </a:lnTo>
                <a:lnTo>
                  <a:pt x="1986195" y="1838711"/>
                </a:lnTo>
                <a:cubicBezTo>
                  <a:pt x="1720801" y="1211248"/>
                  <a:pt x="1099494" y="770976"/>
                  <a:pt x="375357" y="770976"/>
                </a:cubicBezTo>
                <a:cubicBezTo>
                  <a:pt x="254668" y="770976"/>
                  <a:pt x="136835" y="783206"/>
                  <a:pt x="23030" y="806494"/>
                </a:cubicBezTo>
                <a:lnTo>
                  <a:pt x="0" y="812415"/>
                </a:lnTo>
                <a:lnTo>
                  <a:pt x="0" y="30983"/>
                </a:lnTo>
                <a:lnTo>
                  <a:pt x="117785" y="13007"/>
                </a:lnTo>
                <a:cubicBezTo>
                  <a:pt x="202473" y="4406"/>
                  <a:pt x="288401" y="0"/>
                  <a:pt x="375358" y="0"/>
                </a:cubicBezTo>
                <a:close/>
              </a:path>
            </a:pathLst>
          </a:custGeom>
          <a:solidFill>
            <a:schemeClr val="accent5">
              <a:lumMod val="75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1447F1F-BFA8-4A56-894B-40120132EE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365125"/>
            <a:ext cx="10722932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58FB99-0FA3-49F4-99A1-61919F94279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7200" y="1825625"/>
            <a:ext cx="10722932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CDCCAE5-4EB0-4174-BD15-4943899B0A2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457200" y="6324600"/>
            <a:ext cx="256022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 spc="150" baseline="0">
                <a:solidFill>
                  <a:srgbClr val="FFFFFF"/>
                </a:solidFill>
              </a:defRPr>
            </a:lvl1pPr>
          </a:lstStyle>
          <a:p>
            <a:fld id="{193BAB95-8DA7-460B-B00A-7037C8394FB0}" type="datetime1">
              <a:rPr lang="en-US" smtClean="0"/>
              <a:pPr/>
              <a:t>5/18/2026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6A4189E-43B2-4CEE-B13E-61A1FBBBD25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200861" y="6319838"/>
            <a:ext cx="398278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spc="150" baseline="0">
                <a:solidFill>
                  <a:srgbClr val="FFFFFF"/>
                </a:solidFill>
              </a:defRPr>
            </a:lvl1pPr>
          </a:lstStyle>
          <a:p>
            <a:r>
              <a:rPr lang="en-US"/>
              <a:t>Sample Footer Text</a:t>
            </a:r>
            <a:endParaRPr lang="en-US" dirty="0">
              <a:solidFill>
                <a:srgbClr val="FFFFFF"/>
              </a:solidFill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A0530F-0BC8-46EF-A765-DD58B53675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90806" y="6324600"/>
            <a:ext cx="79907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spc="150" baseline="0">
                <a:solidFill>
                  <a:srgbClr val="FFFFFF"/>
                </a:solidFill>
              </a:defRPr>
            </a:lvl1pPr>
          </a:lstStyle>
          <a:p>
            <a:fld id="{11A71338-8BA2-4C79-A6C5-5A8E30081D0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7" name="Freeform: Shape 76">
            <a:extLst>
              <a:ext uri="{FF2B5EF4-FFF2-40B4-BE49-F238E27FC236}">
                <a16:creationId xmlns:a16="http://schemas.microsoft.com/office/drawing/2014/main" id="{0A253F60-DE40-4508-A37A-61331DF1DD5D}"/>
              </a:ext>
            </a:extLst>
          </p:cNvPr>
          <p:cNvSpPr/>
          <p:nvPr/>
        </p:nvSpPr>
        <p:spPr>
          <a:xfrm>
            <a:off x="7979728" y="0"/>
            <a:ext cx="4209224" cy="1650549"/>
          </a:xfrm>
          <a:custGeom>
            <a:avLst/>
            <a:gdLst>
              <a:gd name="connsiteX0" fmla="*/ 0 w 4209224"/>
              <a:gd name="connsiteY0" fmla="*/ 0 h 1650549"/>
              <a:gd name="connsiteX1" fmla="*/ 846445 w 4209224"/>
              <a:gd name="connsiteY1" fmla="*/ 0 h 1650549"/>
              <a:gd name="connsiteX2" fmla="*/ 912542 w 4209224"/>
              <a:gd name="connsiteY2" fmla="*/ 108799 h 1650549"/>
              <a:gd name="connsiteX3" fmla="*/ 2362195 w 4209224"/>
              <a:gd name="connsiteY3" fmla="*/ 879573 h 1650549"/>
              <a:gd name="connsiteX4" fmla="*/ 3811848 w 4209224"/>
              <a:gd name="connsiteY4" fmla="*/ 108799 h 1650549"/>
              <a:gd name="connsiteX5" fmla="*/ 3877945 w 4209224"/>
              <a:gd name="connsiteY5" fmla="*/ 0 h 1650549"/>
              <a:gd name="connsiteX6" fmla="*/ 4209224 w 4209224"/>
              <a:gd name="connsiteY6" fmla="*/ 0 h 1650549"/>
              <a:gd name="connsiteX7" fmla="*/ 4209224 w 4209224"/>
              <a:gd name="connsiteY7" fmla="*/ 840421 h 1650549"/>
              <a:gd name="connsiteX8" fmla="*/ 4143538 w 4209224"/>
              <a:gd name="connsiteY8" fmla="*/ 912693 h 1650549"/>
              <a:gd name="connsiteX9" fmla="*/ 2362196 w 4209224"/>
              <a:gd name="connsiteY9" fmla="*/ 1650549 h 1650549"/>
              <a:gd name="connsiteX10" fmla="*/ 40969 w 4209224"/>
              <a:gd name="connsiteY10" fmla="*/ 111937 h 16505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209224" h="1650549">
                <a:moveTo>
                  <a:pt x="0" y="0"/>
                </a:moveTo>
                <a:lnTo>
                  <a:pt x="846445" y="0"/>
                </a:lnTo>
                <a:lnTo>
                  <a:pt x="912542" y="108799"/>
                </a:lnTo>
                <a:cubicBezTo>
                  <a:pt x="1226710" y="573829"/>
                  <a:pt x="1758748" y="879573"/>
                  <a:pt x="2362195" y="879573"/>
                </a:cubicBezTo>
                <a:cubicBezTo>
                  <a:pt x="2965642" y="879573"/>
                  <a:pt x="3497680" y="573829"/>
                  <a:pt x="3811848" y="108799"/>
                </a:cubicBezTo>
                <a:lnTo>
                  <a:pt x="3877945" y="0"/>
                </a:lnTo>
                <a:lnTo>
                  <a:pt x="4209224" y="0"/>
                </a:lnTo>
                <a:lnTo>
                  <a:pt x="4209224" y="840421"/>
                </a:lnTo>
                <a:lnTo>
                  <a:pt x="4143538" y="912693"/>
                </a:lnTo>
                <a:cubicBezTo>
                  <a:pt x="3687653" y="1368578"/>
                  <a:pt x="3057854" y="1650549"/>
                  <a:pt x="2362196" y="1650549"/>
                </a:cubicBezTo>
                <a:cubicBezTo>
                  <a:pt x="1318710" y="1650549"/>
                  <a:pt x="423404" y="1016115"/>
                  <a:pt x="40969" y="111937"/>
                </a:cubicBezTo>
                <a:close/>
              </a:path>
            </a:pathLst>
          </a:custGeom>
          <a:solidFill>
            <a:schemeClr val="accent5">
              <a:lumMod val="60000"/>
              <a:lumOff val="4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381899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7" r:id="rId1"/>
    <p:sldLayoutId id="2147483718" r:id="rId2"/>
    <p:sldLayoutId id="2147483719" r:id="rId3"/>
    <p:sldLayoutId id="2147483720" r:id="rId4"/>
    <p:sldLayoutId id="2147483721" r:id="rId5"/>
    <p:sldLayoutId id="2147483715" r:id="rId6"/>
    <p:sldLayoutId id="2147483711" r:id="rId7"/>
    <p:sldLayoutId id="2147483712" r:id="rId8"/>
    <p:sldLayoutId id="2147483713" r:id="rId9"/>
    <p:sldLayoutId id="2147483714" r:id="rId10"/>
    <p:sldLayoutId id="2147483716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rgbClr val="FFFFFF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Clr>
          <a:schemeClr val="bg1"/>
        </a:buClr>
        <a:buSzPct val="75000"/>
        <a:buFont typeface="Arial" panose="020B0604020202020204" pitchFamily="34" charset="0"/>
        <a:buChar char="•"/>
        <a:defRPr sz="2800" kern="1200">
          <a:solidFill>
            <a:srgbClr val="FFFFFF"/>
          </a:solidFill>
          <a:latin typeface="+mn-lt"/>
          <a:ea typeface="+mn-ea"/>
          <a:cs typeface="+mn-cs"/>
        </a:defRPr>
      </a:lvl1pPr>
      <a:lvl2pPr marL="2286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bg1"/>
        </a:buClr>
        <a:buSzPct val="75000"/>
        <a:buFont typeface="Arial" panose="020B0604020202020204" pitchFamily="34" charset="0"/>
        <a:buChar char="•"/>
        <a:defRPr sz="2400" kern="1200">
          <a:solidFill>
            <a:srgbClr val="FFFFFF"/>
          </a:solidFill>
          <a:latin typeface="+mn-lt"/>
          <a:ea typeface="+mn-ea"/>
          <a:cs typeface="+mn-cs"/>
        </a:defRPr>
      </a:lvl2pPr>
      <a:lvl3pPr marL="2286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bg1"/>
        </a:buClr>
        <a:buSzPct val="75000"/>
        <a:buFont typeface="Arial" panose="020B0604020202020204" pitchFamily="34" charset="0"/>
        <a:buChar char="•"/>
        <a:defRPr sz="2000" kern="1200">
          <a:solidFill>
            <a:srgbClr val="FFFFFF"/>
          </a:solidFill>
          <a:latin typeface="+mn-lt"/>
          <a:ea typeface="+mn-ea"/>
          <a:cs typeface="+mn-cs"/>
        </a:defRPr>
      </a:lvl3pPr>
      <a:lvl4pPr marL="2286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bg1"/>
        </a:buClr>
        <a:buSzPct val="75000"/>
        <a:buFont typeface="Arial" panose="020B0604020202020204" pitchFamily="34" charset="0"/>
        <a:buChar char="•"/>
        <a:defRPr sz="1800" kern="1200">
          <a:solidFill>
            <a:srgbClr val="FFFFFF"/>
          </a:solidFill>
          <a:latin typeface="+mn-lt"/>
          <a:ea typeface="+mn-ea"/>
          <a:cs typeface="+mn-cs"/>
        </a:defRPr>
      </a:lvl4pPr>
      <a:lvl5pPr marL="228600" indent="-228600" algn="l" defTabSz="914400" rtl="0" eaLnBrk="1" latinLnBrk="0" hangingPunct="1">
        <a:lnSpc>
          <a:spcPct val="110000"/>
        </a:lnSpc>
        <a:spcBef>
          <a:spcPts val="500"/>
        </a:spcBef>
        <a:buClr>
          <a:schemeClr val="bg1"/>
        </a:buClr>
        <a:buSzPct val="75000"/>
        <a:buFont typeface="Arial" panose="020B0604020202020204" pitchFamily="34" charset="0"/>
        <a:buChar char="•"/>
        <a:defRPr sz="1800" kern="1200">
          <a:solidFill>
            <a:srgbClr val="FFFFFF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libsodium.gitbook.io/doc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catch2.org/" TargetMode="Externa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6285CA-6AFA-4F27-AFB5-1B32CDE09B1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F152BFE-7BA8-4007-AD9C-F4DC95E437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26796024-DF17-4BB3-BF28-01E168A3C5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-53661" y="63892"/>
            <a:ext cx="2222198" cy="2133710"/>
          </a:xfrm>
          <a:custGeom>
            <a:avLst/>
            <a:gdLst>
              <a:gd name="connsiteX0" fmla="*/ 0 w 2222198"/>
              <a:gd name="connsiteY0" fmla="*/ 0 h 2133710"/>
              <a:gd name="connsiteX1" fmla="*/ 44227 w 2222198"/>
              <a:gd name="connsiteY1" fmla="*/ 2234 h 2133710"/>
              <a:gd name="connsiteX2" fmla="*/ 2193454 w 2222198"/>
              <a:gd name="connsiteY2" fmla="*/ 1945372 h 2133710"/>
              <a:gd name="connsiteX3" fmla="*/ 2222198 w 2222198"/>
              <a:gd name="connsiteY3" fmla="*/ 2133710 h 2133710"/>
              <a:gd name="connsiteX4" fmla="*/ 1394653 w 2222198"/>
              <a:gd name="connsiteY4" fmla="*/ 2133710 h 2133710"/>
              <a:gd name="connsiteX5" fmla="*/ 1391100 w 2222198"/>
              <a:gd name="connsiteY5" fmla="*/ 2110427 h 2133710"/>
              <a:gd name="connsiteX6" fmla="*/ 122376 w 2222198"/>
              <a:gd name="connsiteY6" fmla="*/ 841704 h 2133710"/>
              <a:gd name="connsiteX7" fmla="*/ 0 w 2222198"/>
              <a:gd name="connsiteY7" fmla="*/ 823027 h 21337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222198" h="2133710">
                <a:moveTo>
                  <a:pt x="0" y="0"/>
                </a:moveTo>
                <a:lnTo>
                  <a:pt x="44227" y="2234"/>
                </a:lnTo>
                <a:cubicBezTo>
                  <a:pt x="1114682" y="110944"/>
                  <a:pt x="1981368" y="908934"/>
                  <a:pt x="2193454" y="1945372"/>
                </a:cubicBezTo>
                <a:lnTo>
                  <a:pt x="2222198" y="2133710"/>
                </a:lnTo>
                <a:lnTo>
                  <a:pt x="1394653" y="2133710"/>
                </a:lnTo>
                <a:lnTo>
                  <a:pt x="1391100" y="2110427"/>
                </a:lnTo>
                <a:cubicBezTo>
                  <a:pt x="1260786" y="1473602"/>
                  <a:pt x="759202" y="972017"/>
                  <a:pt x="122376" y="841704"/>
                </a:cubicBezTo>
                <a:lnTo>
                  <a:pt x="0" y="823027"/>
                </a:lnTo>
                <a:close/>
              </a:path>
            </a:pathLst>
          </a:custGeom>
          <a:solidFill>
            <a:schemeClr val="accent1">
              <a:lumMod val="20000"/>
              <a:lumOff val="8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5" name="Right Triangle 14">
            <a:extLst>
              <a:ext uri="{FF2B5EF4-FFF2-40B4-BE49-F238E27FC236}">
                <a16:creationId xmlns:a16="http://schemas.microsoft.com/office/drawing/2014/main" id="{7BCC6446-8462-4A63-9B6F-8F57EC40F64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65271" y="2673521"/>
            <a:ext cx="568289" cy="568289"/>
          </a:xfrm>
          <a:prstGeom prst="rtTriangle">
            <a:avLst/>
          </a:prstGeom>
          <a:solidFill>
            <a:schemeClr val="bg1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8118ECEF-CA6A-4CB6-BCA5-59B2DB40C4A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6214" y="-1"/>
            <a:ext cx="12214827" cy="6858000"/>
            <a:chOff x="-6214" y="-1"/>
            <a:chExt cx="12214827" cy="6858000"/>
          </a:xfrm>
        </p:grpSpPr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CDC2A251-C28C-4A72-BAFF-511640FB2E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DDDB2429-3E01-4CD5-998D-8F5716A098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1E26953B-4BE7-4AD0-B471-088DBB23D7D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E9D9ED6D-9817-4272-9FEF-E674FBCCCC8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8718C0DE-4596-4A70-AA4F-E678AC7FBC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D8B48095-74C2-4053-872D-D3F70910C3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6224D0B6-A4CB-4D98-A1DC-2770B95F9E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CB39DE9C-23C1-4ABA-BD0D-B76BDC9630D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19DDAAE0-966C-4350-8819-857CF524F3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BEE6C021-FBD3-42F3-9A9C-69C4E71989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F02961B9-65E1-4B12-AD98-9845BC3F43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B22ABFE0-D700-4FD9-9CC8-D138B29ABF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46FFF1A3-B8BF-470C-9436-D5B78185350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198B6551-FF5D-49F5-8D3E-757AEC357A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50F3BFE5-573C-42C0-94D5-E5513CCC57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357931AB-4B07-4E0E-B3E4-84E2452E0A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CC4789DB-7083-4597-9FC7-6336EA0BE3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9E0B4F1D-D11A-4023-BE6B-6679ABB2B4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28633D7A-F6FC-418F-AD87-0EE148C1A0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A0FC8FCC-6F69-4802-995C-903AE441629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86ABFCE7-4796-4186-8EDC-DB6CE87BC7E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E1935BF2-A804-46BA-940A-DDAD7888F30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ED012DA9-8D67-483A-8071-2903F2E3B2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109163DC-956E-44BE-B55A-E6C2C851DD2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76CDE9FD-1880-483F-A039-BEB3AB0D37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38DDB23B-71E7-42A3-B055-5740EE14C5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37245B63-D771-461D-A625-4B49966D248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CF1DF9FF-1F61-4B4F-8993-6897DE09C9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4092F139-6734-46F3-B176-11741F1F73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Otsikko 1">
            <a:extLst>
              <a:ext uri="{FF2B5EF4-FFF2-40B4-BE49-F238E27FC236}">
                <a16:creationId xmlns:a16="http://schemas.microsoft.com/office/drawing/2014/main" id="{D238B391-6C2F-A29F-8066-214303ACA2A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3142" y="725467"/>
            <a:ext cx="5414255" cy="2784496"/>
          </a:xfrm>
        </p:spPr>
        <p:txBody>
          <a:bodyPr>
            <a:normAutofit/>
          </a:bodyPr>
          <a:lstStyle/>
          <a:p>
            <a:pPr algn="l"/>
            <a:r>
              <a:rPr lang="fi-FI" dirty="0" err="1">
                <a:solidFill>
                  <a:schemeClr val="tx2">
                    <a:alpha val="80000"/>
                  </a:schemeClr>
                </a:solidFill>
              </a:rPr>
              <a:t>MyManager</a:t>
            </a:r>
            <a:endParaRPr lang="fi-FI" dirty="0">
              <a:solidFill>
                <a:schemeClr val="tx2">
                  <a:alpha val="80000"/>
                </a:schemeClr>
              </a:solidFill>
            </a:endParaRPr>
          </a:p>
        </p:txBody>
      </p:sp>
      <p:sp>
        <p:nvSpPr>
          <p:cNvPr id="3" name="Alaotsikko 2">
            <a:extLst>
              <a:ext uri="{FF2B5EF4-FFF2-40B4-BE49-F238E27FC236}">
                <a16:creationId xmlns:a16="http://schemas.microsoft.com/office/drawing/2014/main" id="{B0921214-E2DC-643C-A3D5-51C275AAF5B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3142" y="3602038"/>
            <a:ext cx="5414255" cy="1560594"/>
          </a:xfrm>
        </p:spPr>
        <p:txBody>
          <a:bodyPr>
            <a:normAutofit/>
          </a:bodyPr>
          <a:lstStyle/>
          <a:p>
            <a:pPr algn="l"/>
            <a:r>
              <a:rPr lang="fi-FI" dirty="0" err="1">
                <a:solidFill>
                  <a:schemeClr val="tx2">
                    <a:alpha val="80000"/>
                  </a:schemeClr>
                </a:solidFill>
              </a:rPr>
              <a:t>Password</a:t>
            </a:r>
            <a:r>
              <a:rPr lang="fi-FI" dirty="0">
                <a:solidFill>
                  <a:schemeClr val="tx2">
                    <a:alpha val="80000"/>
                  </a:schemeClr>
                </a:solidFill>
              </a:rPr>
              <a:t> </a:t>
            </a:r>
            <a:r>
              <a:rPr lang="fi-FI" dirty="0" err="1">
                <a:solidFill>
                  <a:schemeClr val="tx2">
                    <a:alpha val="80000"/>
                  </a:schemeClr>
                </a:solidFill>
              </a:rPr>
              <a:t>manager</a:t>
            </a:r>
            <a:endParaRPr lang="fi-FI" dirty="0">
              <a:solidFill>
                <a:schemeClr val="tx2">
                  <a:alpha val="80000"/>
                </a:schemeClr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DA0DB0E-4EBD-80F3-7EAD-B9CAB951686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7227" r="30167" b="-1"/>
          <a:stretch>
            <a:fillRect/>
          </a:stretch>
        </p:blipFill>
        <p:spPr>
          <a:xfrm>
            <a:off x="6189156" y="-3440"/>
            <a:ext cx="6015813" cy="6861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89932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2" name="Rectangle 51">
            <a:extLst>
              <a:ext uri="{FF2B5EF4-FFF2-40B4-BE49-F238E27FC236}">
                <a16:creationId xmlns:a16="http://schemas.microsoft.com/office/drawing/2014/main" id="{1C582B07-D0F0-4B6B-A5D9-D2F192CB3A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93" name="Rectangle 53">
            <a:extLst>
              <a:ext uri="{FF2B5EF4-FFF2-40B4-BE49-F238E27FC236}">
                <a16:creationId xmlns:a16="http://schemas.microsoft.com/office/drawing/2014/main" id="{43517DAF-BA0B-48C9-8544-2D295C68FC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94" name="Right Triangle 55">
            <a:extLst>
              <a:ext uri="{FF2B5EF4-FFF2-40B4-BE49-F238E27FC236}">
                <a16:creationId xmlns:a16="http://schemas.microsoft.com/office/drawing/2014/main" id="{DA1A4301-6FFC-4C82-A1FA-7634D8CAA8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>
            <a:off x="422269" y="-284218"/>
            <a:ext cx="568289" cy="568289"/>
          </a:xfrm>
          <a:prstGeom prst="rtTriangle">
            <a:avLst/>
          </a:prstGeom>
          <a:solidFill>
            <a:schemeClr val="bg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Freeform: Shape 57">
            <a:extLst>
              <a:ext uri="{FF2B5EF4-FFF2-40B4-BE49-F238E27FC236}">
                <a16:creationId xmlns:a16="http://schemas.microsoft.com/office/drawing/2014/main" id="{320AB72C-20FB-424A-B116-9771F33F0A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844" y="4062405"/>
            <a:ext cx="3509907" cy="2795595"/>
          </a:xfrm>
          <a:custGeom>
            <a:avLst/>
            <a:gdLst>
              <a:gd name="connsiteX0" fmla="*/ 1060477 w 3509907"/>
              <a:gd name="connsiteY0" fmla="*/ 0 h 2795595"/>
              <a:gd name="connsiteX1" fmla="*/ 3509907 w 3509907"/>
              <a:gd name="connsiteY1" fmla="*/ 2449430 h 2795595"/>
              <a:gd name="connsiteX2" fmla="*/ 3497261 w 3509907"/>
              <a:gd name="connsiteY2" fmla="*/ 2699870 h 2795595"/>
              <a:gd name="connsiteX3" fmla="*/ 3482652 w 3509907"/>
              <a:gd name="connsiteY3" fmla="*/ 2795595 h 2795595"/>
              <a:gd name="connsiteX4" fmla="*/ 2653271 w 3509907"/>
              <a:gd name="connsiteY4" fmla="*/ 2795595 h 2795595"/>
              <a:gd name="connsiteX5" fmla="*/ 2657790 w 3509907"/>
              <a:gd name="connsiteY5" fmla="*/ 2778020 h 2795595"/>
              <a:gd name="connsiteX6" fmla="*/ 2690914 w 3509907"/>
              <a:gd name="connsiteY6" fmla="*/ 2449430 h 2795595"/>
              <a:gd name="connsiteX7" fmla="*/ 1060476 w 3509907"/>
              <a:gd name="connsiteY7" fmla="*/ 818992 h 2795595"/>
              <a:gd name="connsiteX8" fmla="*/ 23366 w 3509907"/>
              <a:gd name="connsiteY8" fmla="*/ 1191305 h 2795595"/>
              <a:gd name="connsiteX9" fmla="*/ 0 w 3509907"/>
              <a:gd name="connsiteY9" fmla="*/ 1212542 h 2795595"/>
              <a:gd name="connsiteX10" fmla="*/ 0 w 3509907"/>
              <a:gd name="connsiteY10" fmla="*/ 244056 h 2795595"/>
              <a:gd name="connsiteX11" fmla="*/ 107048 w 3509907"/>
              <a:gd name="connsiteY11" fmla="*/ 192489 h 2795595"/>
              <a:gd name="connsiteX12" fmla="*/ 1060477 w 3509907"/>
              <a:gd name="connsiteY12" fmla="*/ 0 h 27955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509907" h="2795595">
                <a:moveTo>
                  <a:pt x="1060477" y="0"/>
                </a:moveTo>
                <a:cubicBezTo>
                  <a:pt x="2413260" y="0"/>
                  <a:pt x="3509907" y="1096647"/>
                  <a:pt x="3509907" y="2449430"/>
                </a:cubicBezTo>
                <a:cubicBezTo>
                  <a:pt x="3509907" y="2533979"/>
                  <a:pt x="3505624" y="2617528"/>
                  <a:pt x="3497261" y="2699870"/>
                </a:cubicBezTo>
                <a:lnTo>
                  <a:pt x="3482652" y="2795595"/>
                </a:lnTo>
                <a:lnTo>
                  <a:pt x="2653271" y="2795595"/>
                </a:lnTo>
                <a:lnTo>
                  <a:pt x="2657790" y="2778020"/>
                </a:lnTo>
                <a:cubicBezTo>
                  <a:pt x="2679509" y="2671883"/>
                  <a:pt x="2690914" y="2561988"/>
                  <a:pt x="2690914" y="2449430"/>
                </a:cubicBezTo>
                <a:cubicBezTo>
                  <a:pt x="2690914" y="1548964"/>
                  <a:pt x="1960942" y="818992"/>
                  <a:pt x="1060476" y="818992"/>
                </a:cubicBezTo>
                <a:cubicBezTo>
                  <a:pt x="666522" y="818992"/>
                  <a:pt x="305202" y="958713"/>
                  <a:pt x="23366" y="1191305"/>
                </a:cubicBezTo>
                <a:lnTo>
                  <a:pt x="0" y="1212542"/>
                </a:lnTo>
                <a:lnTo>
                  <a:pt x="0" y="244056"/>
                </a:lnTo>
                <a:lnTo>
                  <a:pt x="107048" y="192489"/>
                </a:lnTo>
                <a:cubicBezTo>
                  <a:pt x="400094" y="68541"/>
                  <a:pt x="722282" y="0"/>
                  <a:pt x="1060477" y="0"/>
                </a:cubicBezTo>
                <a:close/>
              </a:path>
            </a:pathLst>
          </a:custGeom>
          <a:solidFill>
            <a:schemeClr val="accent6">
              <a:lumMod val="20000"/>
              <a:lumOff val="8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96" name="Freeform: Shape 59">
            <a:extLst>
              <a:ext uri="{FF2B5EF4-FFF2-40B4-BE49-F238E27FC236}">
                <a16:creationId xmlns:a16="http://schemas.microsoft.com/office/drawing/2014/main" id="{9E38EE1F-4E4B-4F57-B909-C42294E312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290211" y="5571906"/>
            <a:ext cx="4039677" cy="1269438"/>
          </a:xfrm>
          <a:custGeom>
            <a:avLst/>
            <a:gdLst>
              <a:gd name="connsiteX0" fmla="*/ 2019838 w 4039677"/>
              <a:gd name="connsiteY0" fmla="*/ 0 h 1269438"/>
              <a:gd name="connsiteX1" fmla="*/ 3994238 w 4039677"/>
              <a:gd name="connsiteY1" fmla="*/ 1175114 h 1269438"/>
              <a:gd name="connsiteX2" fmla="*/ 4039677 w 4039677"/>
              <a:gd name="connsiteY2" fmla="*/ 1269438 h 1269438"/>
              <a:gd name="connsiteX3" fmla="*/ 3004689 w 4039677"/>
              <a:gd name="connsiteY3" fmla="*/ 1269438 h 1269438"/>
              <a:gd name="connsiteX4" fmla="*/ 3000461 w 4039677"/>
              <a:gd name="connsiteY4" fmla="*/ 1264787 h 1269438"/>
              <a:gd name="connsiteX5" fmla="*/ 2019838 w 4039677"/>
              <a:gd name="connsiteY5" fmla="*/ 858599 h 1269438"/>
              <a:gd name="connsiteX6" fmla="*/ 1039216 w 4039677"/>
              <a:gd name="connsiteY6" fmla="*/ 1264787 h 1269438"/>
              <a:gd name="connsiteX7" fmla="*/ 1034988 w 4039677"/>
              <a:gd name="connsiteY7" fmla="*/ 1269438 h 1269438"/>
              <a:gd name="connsiteX8" fmla="*/ 0 w 4039677"/>
              <a:gd name="connsiteY8" fmla="*/ 1269438 h 1269438"/>
              <a:gd name="connsiteX9" fmla="*/ 45438 w 4039677"/>
              <a:gd name="connsiteY9" fmla="*/ 1175114 h 1269438"/>
              <a:gd name="connsiteX10" fmla="*/ 2019838 w 4039677"/>
              <a:gd name="connsiteY10" fmla="*/ 0 h 12694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4039677" h="1269438">
                <a:moveTo>
                  <a:pt x="2019838" y="0"/>
                </a:moveTo>
                <a:cubicBezTo>
                  <a:pt x="2872410" y="0"/>
                  <a:pt x="3614002" y="475164"/>
                  <a:pt x="3994238" y="1175114"/>
                </a:cubicBezTo>
                <a:lnTo>
                  <a:pt x="4039677" y="1269438"/>
                </a:lnTo>
                <a:lnTo>
                  <a:pt x="3004689" y="1269438"/>
                </a:lnTo>
                <a:lnTo>
                  <a:pt x="3000461" y="1264787"/>
                </a:lnTo>
                <a:cubicBezTo>
                  <a:pt x="2749498" y="1013823"/>
                  <a:pt x="2402795" y="858599"/>
                  <a:pt x="2019838" y="858599"/>
                </a:cubicBezTo>
                <a:cubicBezTo>
                  <a:pt x="1636881" y="858599"/>
                  <a:pt x="1290179" y="1013823"/>
                  <a:pt x="1039216" y="1264787"/>
                </a:cubicBezTo>
                <a:lnTo>
                  <a:pt x="1034988" y="1269438"/>
                </a:lnTo>
                <a:lnTo>
                  <a:pt x="0" y="1269438"/>
                </a:lnTo>
                <a:lnTo>
                  <a:pt x="45438" y="1175114"/>
                </a:lnTo>
                <a:cubicBezTo>
                  <a:pt x="425674" y="475164"/>
                  <a:pt x="1167266" y="0"/>
                  <a:pt x="2019838" y="0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grpSp>
        <p:nvGrpSpPr>
          <p:cNvPr id="62" name="Group 61">
            <a:extLst>
              <a:ext uri="{FF2B5EF4-FFF2-40B4-BE49-F238E27FC236}">
                <a16:creationId xmlns:a16="http://schemas.microsoft.com/office/drawing/2014/main" id="{8323DD1D-77DE-48B2-A0A0-6265801531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214827" cy="6858000"/>
            <a:chOff x="-6214" y="-1"/>
            <a:chExt cx="12214827" cy="6858000"/>
          </a:xfrm>
        </p:grpSpPr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5C230063-C474-48F9-AD35-F649415C22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6251EB77-6139-46FD-BABC-8576465948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A8177B72-4955-469C-BAF0-E076263794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C09269C7-DB34-4A8C-BAC9-2496A058B8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FFA42117-D401-4236-8EAA-EC9095D4C6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6746B91E-6053-4974-B374-9D1B8FBD70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ED5DA8D3-12FB-4731-BDBC-93B6113D0C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7D16B49A-4893-4729-87B8-9A0B8E592D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406D93EE-2329-4706-89C0-BB6C94A39A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3DC3E76F-2DB4-40DA-8C45-943861B172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F56318F6-E559-4DA6-95C0-D2BB10BA64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83243B57-CFAA-461A-AE56-A61CF60F3A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86AEACE9-7BE6-4FC5-9686-47F15ABA56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Straight Connector 75">
              <a:extLst>
                <a:ext uri="{FF2B5EF4-FFF2-40B4-BE49-F238E27FC236}">
                  <a16:creationId xmlns:a16="http://schemas.microsoft.com/office/drawing/2014/main" id="{5DCAE5B4-5700-44A8-91DA-D8415FB04F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Straight Connector 76">
              <a:extLst>
                <a:ext uri="{FF2B5EF4-FFF2-40B4-BE49-F238E27FC236}">
                  <a16:creationId xmlns:a16="http://schemas.microsoft.com/office/drawing/2014/main" id="{F2F9D9C9-D01B-4870-8B33-310D77DF5B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905DDC7F-2142-41F1-B1E3-A37A0B6FD1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51B19576-1AA2-4552-8D7D-831B137814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C504D005-AC5D-4160-8184-5BB45CE004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DA540368-C5A6-4F28-A60E-763362A6E5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Straight Connector 81">
              <a:extLst>
                <a:ext uri="{FF2B5EF4-FFF2-40B4-BE49-F238E27FC236}">
                  <a16:creationId xmlns:a16="http://schemas.microsoft.com/office/drawing/2014/main" id="{767B4722-C810-495C-BB11-45141E367D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Straight Connector 82">
              <a:extLst>
                <a:ext uri="{FF2B5EF4-FFF2-40B4-BE49-F238E27FC236}">
                  <a16:creationId xmlns:a16="http://schemas.microsoft.com/office/drawing/2014/main" id="{83B1706B-6FE4-44FB-B429-E59AE3B16D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Straight Connector 83">
              <a:extLst>
                <a:ext uri="{FF2B5EF4-FFF2-40B4-BE49-F238E27FC236}">
                  <a16:creationId xmlns:a16="http://schemas.microsoft.com/office/drawing/2014/main" id="{F9DD5DAD-1CA2-48BA-94BF-70B1AC2BB5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Straight Connector 84">
              <a:extLst>
                <a:ext uri="{FF2B5EF4-FFF2-40B4-BE49-F238E27FC236}">
                  <a16:creationId xmlns:a16="http://schemas.microsoft.com/office/drawing/2014/main" id="{076A21FA-0159-4468-9737-BDBD342618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Straight Connector 85">
              <a:extLst>
                <a:ext uri="{FF2B5EF4-FFF2-40B4-BE49-F238E27FC236}">
                  <a16:creationId xmlns:a16="http://schemas.microsoft.com/office/drawing/2014/main" id="{0870688F-0FB0-4A4A-9F90-7EAE14CAE2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8F7D7D25-8970-4DD6-A3D7-0D550BA85C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8B480E32-418E-4DE3-B6E7-2F803A2C75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9" name="Straight Connector 88">
              <a:extLst>
                <a:ext uri="{FF2B5EF4-FFF2-40B4-BE49-F238E27FC236}">
                  <a16:creationId xmlns:a16="http://schemas.microsoft.com/office/drawing/2014/main" id="{0985F833-A609-4B9C-A0D7-6DF88DB7BA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Straight Connector 89">
              <a:extLst>
                <a:ext uri="{FF2B5EF4-FFF2-40B4-BE49-F238E27FC236}">
                  <a16:creationId xmlns:a16="http://schemas.microsoft.com/office/drawing/2014/main" id="{DAA9A587-B078-4028-A924-4A6DDDA2C4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Straight Connector 90">
              <a:extLst>
                <a:ext uri="{FF2B5EF4-FFF2-40B4-BE49-F238E27FC236}">
                  <a16:creationId xmlns:a16="http://schemas.microsoft.com/office/drawing/2014/main" id="{1E2E5E8E-3025-4C93-9E63-9C47C5BBA9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Otsikko 1">
            <a:extLst>
              <a:ext uri="{FF2B5EF4-FFF2-40B4-BE49-F238E27FC236}">
                <a16:creationId xmlns:a16="http://schemas.microsoft.com/office/drawing/2014/main" id="{960FE3FB-A88D-4F7B-1E9A-6F79C024E8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728906"/>
            <a:ext cx="4712534" cy="2823325"/>
          </a:xfrm>
        </p:spPr>
        <p:txBody>
          <a:bodyPr anchor="t">
            <a:normAutofit/>
          </a:bodyPr>
          <a:lstStyle/>
          <a:p>
            <a:r>
              <a:rPr lang="fi-FI" dirty="0">
                <a:solidFill>
                  <a:schemeClr val="tx2"/>
                </a:solidFill>
              </a:rPr>
              <a:t>Programming </a:t>
            </a:r>
            <a:r>
              <a:rPr lang="fi-FI" dirty="0" err="1">
                <a:solidFill>
                  <a:schemeClr val="tx2"/>
                </a:solidFill>
              </a:rPr>
              <a:t>language</a:t>
            </a:r>
            <a:r>
              <a:rPr lang="fi-FI" dirty="0">
                <a:solidFill>
                  <a:schemeClr val="tx2"/>
                </a:solidFill>
              </a:rPr>
              <a:t> &amp; </a:t>
            </a:r>
            <a:r>
              <a:rPr lang="fi-FI" dirty="0" err="1">
                <a:solidFill>
                  <a:schemeClr val="tx2"/>
                </a:solidFill>
              </a:rPr>
              <a:t>libraries</a:t>
            </a:r>
            <a:r>
              <a:rPr lang="fi-FI" dirty="0">
                <a:solidFill>
                  <a:schemeClr val="tx2"/>
                </a:solidFill>
              </a:rPr>
              <a:t> </a:t>
            </a:r>
            <a:r>
              <a:rPr lang="fi-FI" dirty="0" err="1">
                <a:solidFill>
                  <a:schemeClr val="tx2"/>
                </a:solidFill>
              </a:rPr>
              <a:t>used</a:t>
            </a:r>
            <a:endParaRPr lang="fi-FI" dirty="0">
              <a:solidFill>
                <a:schemeClr val="tx2"/>
              </a:solidFill>
            </a:endParaRPr>
          </a:p>
        </p:txBody>
      </p:sp>
      <p:sp>
        <p:nvSpPr>
          <p:cNvPr id="3" name="Sisällön paikkamerkki 2">
            <a:extLst>
              <a:ext uri="{FF2B5EF4-FFF2-40B4-BE49-F238E27FC236}">
                <a16:creationId xmlns:a16="http://schemas.microsoft.com/office/drawing/2014/main" id="{3A1C6BDB-B341-A693-A6CB-0265DF48CE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88459" y="728906"/>
            <a:ext cx="5813687" cy="2838357"/>
          </a:xfrm>
        </p:spPr>
        <p:txBody>
          <a:bodyPr anchor="t">
            <a:normAutofit/>
          </a:bodyPr>
          <a:lstStyle/>
          <a:p>
            <a:r>
              <a:rPr lang="fi-FI" sz="1800" dirty="0">
                <a:solidFill>
                  <a:schemeClr val="tx2"/>
                </a:solidFill>
              </a:rPr>
              <a:t>C++</a:t>
            </a:r>
          </a:p>
          <a:p>
            <a:r>
              <a:rPr lang="fi-FI" sz="1800" dirty="0" err="1">
                <a:solidFill>
                  <a:schemeClr val="tx2"/>
                </a:solidFill>
              </a:rPr>
              <a:t>Libsodium</a:t>
            </a:r>
            <a:r>
              <a:rPr lang="fi-FI" sz="1800" dirty="0">
                <a:solidFill>
                  <a:schemeClr val="tx2"/>
                </a:solidFill>
              </a:rPr>
              <a:t> (</a:t>
            </a:r>
            <a:r>
              <a:rPr lang="fi-FI" sz="1800" dirty="0">
                <a:solidFill>
                  <a:schemeClr val="tx2"/>
                </a:solidFill>
                <a:hlinkClick r:id="rId3"/>
              </a:rPr>
              <a:t>https://libsodium.gitbook.io/doc</a:t>
            </a:r>
            <a:r>
              <a:rPr lang="fi-FI" sz="1800" dirty="0">
                <a:solidFill>
                  <a:schemeClr val="tx2"/>
                </a:solidFill>
              </a:rPr>
              <a:t>)</a:t>
            </a:r>
          </a:p>
          <a:p>
            <a:r>
              <a:rPr lang="fi-FI" sz="1800" dirty="0">
                <a:solidFill>
                  <a:schemeClr val="tx2"/>
                </a:solidFill>
              </a:rPr>
              <a:t>Catch2 (</a:t>
            </a:r>
            <a:r>
              <a:rPr lang="fi-FI" sz="1800" dirty="0">
                <a:solidFill>
                  <a:schemeClr val="tx2"/>
                </a:solidFill>
                <a:hlinkClick r:id="rId4"/>
              </a:rPr>
              <a:t>https://catch2.org/</a:t>
            </a:r>
            <a:r>
              <a:rPr lang="fi-FI" sz="1800" dirty="0">
                <a:solidFill>
                  <a:schemeClr val="tx2"/>
                </a:solidFill>
              </a:rPr>
              <a:t>) </a:t>
            </a:r>
          </a:p>
        </p:txBody>
      </p:sp>
    </p:spTree>
    <p:extLst>
      <p:ext uri="{BB962C8B-B14F-4D97-AF65-F5344CB8AC3E}">
        <p14:creationId xmlns:p14="http://schemas.microsoft.com/office/powerpoint/2010/main" val="20508592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C582B07-D0F0-4B6B-A5D9-D2F192CB3A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71D79C9-FD78-4D11-A424-0002509BD3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FB6DB01C-9C1F-4164-99EC-F0C2A75CD1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2200" y="10905"/>
            <a:ext cx="2452128" cy="3034118"/>
          </a:xfrm>
          <a:custGeom>
            <a:avLst/>
            <a:gdLst>
              <a:gd name="connsiteX0" fmla="*/ 1346716 w 2452128"/>
              <a:gd name="connsiteY0" fmla="*/ 0 h 3034118"/>
              <a:gd name="connsiteX1" fmla="*/ 2306895 w 2452128"/>
              <a:gd name="connsiteY1" fmla="*/ 0 h 3034118"/>
              <a:gd name="connsiteX2" fmla="*/ 2351179 w 2452128"/>
              <a:gd name="connsiteY2" fmla="*/ 120993 h 3034118"/>
              <a:gd name="connsiteX3" fmla="*/ 2452128 w 2452128"/>
              <a:gd name="connsiteY3" fmla="*/ 788709 h 3034118"/>
              <a:gd name="connsiteX4" fmla="*/ 206719 w 2452128"/>
              <a:gd name="connsiteY4" fmla="*/ 3034118 h 3034118"/>
              <a:gd name="connsiteX5" fmla="*/ 0 w 2452128"/>
              <a:gd name="connsiteY5" fmla="*/ 3023680 h 3034118"/>
              <a:gd name="connsiteX6" fmla="*/ 0 w 2452128"/>
              <a:gd name="connsiteY6" fmla="*/ 2158450 h 3034118"/>
              <a:gd name="connsiteX7" fmla="*/ 64926 w 2452128"/>
              <a:gd name="connsiteY7" fmla="*/ 2168359 h 3034118"/>
              <a:gd name="connsiteX8" fmla="*/ 206719 w 2452128"/>
              <a:gd name="connsiteY8" fmla="*/ 2175519 h 3034118"/>
              <a:gd name="connsiteX9" fmla="*/ 1593529 w 2452128"/>
              <a:gd name="connsiteY9" fmla="*/ 788709 h 3034118"/>
              <a:gd name="connsiteX10" fmla="*/ 1356684 w 2452128"/>
              <a:gd name="connsiteY10" fmla="*/ 13330 h 30341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452128" h="3034118">
                <a:moveTo>
                  <a:pt x="1346716" y="0"/>
                </a:moveTo>
                <a:lnTo>
                  <a:pt x="2306895" y="0"/>
                </a:lnTo>
                <a:lnTo>
                  <a:pt x="2351179" y="120993"/>
                </a:lnTo>
                <a:cubicBezTo>
                  <a:pt x="2416786" y="331924"/>
                  <a:pt x="2452128" y="556189"/>
                  <a:pt x="2452128" y="788709"/>
                </a:cubicBezTo>
                <a:cubicBezTo>
                  <a:pt x="2452128" y="2028814"/>
                  <a:pt x="1446824" y="3034118"/>
                  <a:pt x="206719" y="3034118"/>
                </a:cubicBezTo>
                <a:lnTo>
                  <a:pt x="0" y="3023680"/>
                </a:lnTo>
                <a:lnTo>
                  <a:pt x="0" y="2158450"/>
                </a:lnTo>
                <a:lnTo>
                  <a:pt x="64926" y="2168359"/>
                </a:lnTo>
                <a:cubicBezTo>
                  <a:pt x="111546" y="2173094"/>
                  <a:pt x="158850" y="2175519"/>
                  <a:pt x="206719" y="2175519"/>
                </a:cubicBezTo>
                <a:cubicBezTo>
                  <a:pt x="972633" y="2175519"/>
                  <a:pt x="1593529" y="1554623"/>
                  <a:pt x="1593529" y="788709"/>
                </a:cubicBezTo>
                <a:cubicBezTo>
                  <a:pt x="1593529" y="501491"/>
                  <a:pt x="1506216" y="234667"/>
                  <a:pt x="1356684" y="13330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919796AB-81F4-4FC8-8171-F4BECA869B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4240" y="0"/>
            <a:ext cx="4893352" cy="2394886"/>
          </a:xfrm>
          <a:custGeom>
            <a:avLst/>
            <a:gdLst>
              <a:gd name="connsiteX0" fmla="*/ 0 w 4893352"/>
              <a:gd name="connsiteY0" fmla="*/ 0 h 2394886"/>
              <a:gd name="connsiteX1" fmla="*/ 818991 w 4893352"/>
              <a:gd name="connsiteY1" fmla="*/ 0 h 2394886"/>
              <a:gd name="connsiteX2" fmla="*/ 824655 w 4893352"/>
              <a:gd name="connsiteY2" fmla="*/ 112159 h 2394886"/>
              <a:gd name="connsiteX3" fmla="*/ 2446675 w 4893352"/>
              <a:gd name="connsiteY3" fmla="*/ 1575894 h 2394886"/>
              <a:gd name="connsiteX4" fmla="*/ 4068695 w 4893352"/>
              <a:gd name="connsiteY4" fmla="*/ 112159 h 2394886"/>
              <a:gd name="connsiteX5" fmla="*/ 4074359 w 4893352"/>
              <a:gd name="connsiteY5" fmla="*/ 0 h 2394886"/>
              <a:gd name="connsiteX6" fmla="*/ 4893352 w 4893352"/>
              <a:gd name="connsiteY6" fmla="*/ 0 h 2394886"/>
              <a:gd name="connsiteX7" fmla="*/ 4883460 w 4893352"/>
              <a:gd name="connsiteY7" fmla="*/ 195896 h 2394886"/>
              <a:gd name="connsiteX8" fmla="*/ 2446676 w 4893352"/>
              <a:gd name="connsiteY8" fmla="*/ 2394886 h 2394886"/>
              <a:gd name="connsiteX9" fmla="*/ 9892 w 4893352"/>
              <a:gd name="connsiteY9" fmla="*/ 195896 h 23948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893352" h="2394886">
                <a:moveTo>
                  <a:pt x="0" y="0"/>
                </a:moveTo>
                <a:lnTo>
                  <a:pt x="818991" y="0"/>
                </a:lnTo>
                <a:lnTo>
                  <a:pt x="824655" y="112159"/>
                </a:lnTo>
                <a:cubicBezTo>
                  <a:pt x="908150" y="934317"/>
                  <a:pt x="1602488" y="1575894"/>
                  <a:pt x="2446675" y="1575894"/>
                </a:cubicBezTo>
                <a:cubicBezTo>
                  <a:pt x="3290862" y="1575894"/>
                  <a:pt x="3985201" y="934317"/>
                  <a:pt x="4068695" y="112159"/>
                </a:cubicBezTo>
                <a:lnTo>
                  <a:pt x="4074359" y="0"/>
                </a:lnTo>
                <a:lnTo>
                  <a:pt x="4893352" y="0"/>
                </a:lnTo>
                <a:lnTo>
                  <a:pt x="4883460" y="195896"/>
                </a:lnTo>
                <a:cubicBezTo>
                  <a:pt x="4758025" y="1431036"/>
                  <a:pt x="3714910" y="2394886"/>
                  <a:pt x="2446676" y="2394886"/>
                </a:cubicBezTo>
                <a:cubicBezTo>
                  <a:pt x="1178442" y="2394886"/>
                  <a:pt x="135328" y="1431036"/>
                  <a:pt x="9892" y="195896"/>
                </a:cubicBezTo>
                <a:close/>
              </a:path>
            </a:pathLst>
          </a:custGeom>
          <a:solidFill>
            <a:schemeClr val="accent1">
              <a:lumMod val="20000"/>
              <a:lumOff val="8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Right Triangle 15">
            <a:extLst>
              <a:ext uri="{FF2B5EF4-FFF2-40B4-BE49-F238E27FC236}">
                <a16:creationId xmlns:a16="http://schemas.microsoft.com/office/drawing/2014/main" id="{DA1A4301-6FFC-4C82-A1FA-7634D8CAA8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84145" y="3546697"/>
            <a:ext cx="568289" cy="568289"/>
          </a:xfrm>
          <a:prstGeom prst="rtTriangle">
            <a:avLst/>
          </a:prstGeom>
          <a:solidFill>
            <a:schemeClr val="bg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8323DD1D-77DE-48B2-A0A0-6265801531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214827" cy="6858000"/>
            <a:chOff x="-6214" y="-1"/>
            <a:chExt cx="12214827" cy="6858000"/>
          </a:xfrm>
        </p:grpSpPr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5C230063-C474-48F9-AD35-F649415C22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6251EB77-6139-46FD-BABC-8576465948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A8177B72-4955-469C-BAF0-E076263794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C09269C7-DB34-4A8C-BAC9-2496A058B8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FFA42117-D401-4236-8EAA-EC9095D4C6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6746B91E-6053-4974-B374-9D1B8FBD70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ED5DA8D3-12FB-4731-BDBC-93B6113D0C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7D16B49A-4893-4729-87B8-9A0B8E592D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406D93EE-2329-4706-89C0-BB6C94A39A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3DC3E76F-2DB4-40DA-8C45-943861B172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F56318F6-E559-4DA6-95C0-D2BB10BA64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83243B57-CFAA-461A-AE56-A61CF60F3A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86AEACE9-7BE6-4FC5-9686-47F15ABA56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5DCAE5B4-5700-44A8-91DA-D8415FB04F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F2F9D9C9-D01B-4870-8B33-310D77DF5B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905DDC7F-2142-41F1-B1E3-A37A0B6FD1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1B19576-1AA2-4552-8D7D-831B137814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C504D005-AC5D-4160-8184-5BB45CE004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DA540368-C5A6-4F28-A60E-763362A6E5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767B4722-C810-495C-BB11-45141E367D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83B1706B-6FE4-44FB-B429-E59AE3B16D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F9DD5DAD-1CA2-48BA-94BF-70B1AC2BB5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076A21FA-0159-4468-9737-BDBD342618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0870688F-0FB0-4A4A-9F90-7EAE14CAE2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8F7D7D25-8970-4DD6-A3D7-0D550BA85C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8B480E32-418E-4DE3-B6E7-2F803A2C75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0985F833-A609-4B9C-A0D7-6DF88DB7BA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DAA9A587-B078-4028-A924-4A6DDDA2C4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1E2E5E8E-3025-4C93-9E63-9C47C5BBA9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Otsikko 1">
            <a:extLst>
              <a:ext uri="{FF2B5EF4-FFF2-40B4-BE49-F238E27FC236}">
                <a16:creationId xmlns:a16="http://schemas.microsoft.com/office/drawing/2014/main" id="{8A66395B-81BE-639D-BDD1-0966795F8B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3511417"/>
            <a:ext cx="4712534" cy="2740908"/>
          </a:xfrm>
        </p:spPr>
        <p:txBody>
          <a:bodyPr anchor="t">
            <a:normAutofit/>
          </a:bodyPr>
          <a:lstStyle/>
          <a:p>
            <a:r>
              <a:rPr lang="fi-FI" dirty="0">
                <a:solidFill>
                  <a:schemeClr val="tx2"/>
                </a:solidFill>
              </a:rPr>
              <a:t>Security</a:t>
            </a:r>
          </a:p>
        </p:txBody>
      </p:sp>
      <p:sp>
        <p:nvSpPr>
          <p:cNvPr id="3" name="Sisällön paikkamerkki 2">
            <a:extLst>
              <a:ext uri="{FF2B5EF4-FFF2-40B4-BE49-F238E27FC236}">
                <a16:creationId xmlns:a16="http://schemas.microsoft.com/office/drawing/2014/main" id="{EE530F50-BE33-DC52-255B-C079F19DBD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88459" y="3511417"/>
            <a:ext cx="5813687" cy="2755940"/>
          </a:xfrm>
        </p:spPr>
        <p:txBody>
          <a:bodyPr anchor="t">
            <a:normAutofit/>
          </a:bodyPr>
          <a:lstStyle/>
          <a:p>
            <a:r>
              <a:rPr lang="fi-FI" sz="1800" dirty="0" err="1">
                <a:solidFill>
                  <a:schemeClr val="tx2"/>
                </a:solidFill>
              </a:rPr>
              <a:t>Own</a:t>
            </a:r>
            <a:r>
              <a:rPr lang="fi-FI" sz="1800" dirty="0">
                <a:solidFill>
                  <a:schemeClr val="tx2"/>
                </a:solidFill>
              </a:rPr>
              <a:t> </a:t>
            </a:r>
            <a:r>
              <a:rPr lang="fi-FI" sz="1800" dirty="0" err="1">
                <a:solidFill>
                  <a:schemeClr val="tx2"/>
                </a:solidFill>
              </a:rPr>
              <a:t>crypto</a:t>
            </a:r>
            <a:r>
              <a:rPr lang="fi-FI" sz="1800" dirty="0">
                <a:solidFill>
                  <a:schemeClr val="tx2"/>
                </a:solidFill>
              </a:rPr>
              <a:t> </a:t>
            </a:r>
            <a:r>
              <a:rPr lang="fi-FI" sz="1800" dirty="0" err="1">
                <a:solidFill>
                  <a:schemeClr val="tx2"/>
                </a:solidFill>
              </a:rPr>
              <a:t>implementation</a:t>
            </a:r>
            <a:r>
              <a:rPr lang="fi-FI" sz="1800" dirty="0">
                <a:solidFill>
                  <a:schemeClr val="tx2"/>
                </a:solidFill>
              </a:rPr>
              <a:t> -&gt; </a:t>
            </a:r>
            <a:r>
              <a:rPr lang="fi-FI" sz="1800" dirty="0" err="1">
                <a:solidFill>
                  <a:schemeClr val="tx2"/>
                </a:solidFill>
              </a:rPr>
              <a:t>Libsodium</a:t>
            </a:r>
            <a:endParaRPr lang="fi-FI" sz="1800" dirty="0">
              <a:solidFill>
                <a:schemeClr val="tx2"/>
              </a:solidFill>
            </a:endParaRPr>
          </a:p>
          <a:p>
            <a:r>
              <a:rPr lang="fi-FI" sz="1800" dirty="0" err="1">
                <a:solidFill>
                  <a:schemeClr val="tx2"/>
                </a:solidFill>
              </a:rPr>
              <a:t>Password-based</a:t>
            </a:r>
            <a:r>
              <a:rPr lang="fi-FI" sz="1800" dirty="0">
                <a:solidFill>
                  <a:schemeClr val="tx2"/>
                </a:solidFill>
              </a:rPr>
              <a:t> </a:t>
            </a:r>
            <a:r>
              <a:rPr lang="fi-FI" sz="1800" dirty="0" err="1">
                <a:solidFill>
                  <a:schemeClr val="tx2"/>
                </a:solidFill>
              </a:rPr>
              <a:t>key</a:t>
            </a:r>
            <a:r>
              <a:rPr lang="fi-FI" sz="1800" dirty="0">
                <a:solidFill>
                  <a:schemeClr val="tx2"/>
                </a:solidFill>
              </a:rPr>
              <a:t> </a:t>
            </a:r>
            <a:r>
              <a:rPr lang="fi-FI" sz="1800" dirty="0" err="1">
                <a:solidFill>
                  <a:schemeClr val="tx2"/>
                </a:solidFill>
              </a:rPr>
              <a:t>derivation</a:t>
            </a:r>
            <a:endParaRPr lang="fi-FI" sz="1800" dirty="0">
              <a:solidFill>
                <a:schemeClr val="tx2"/>
              </a:solidFill>
            </a:endParaRPr>
          </a:p>
          <a:p>
            <a:r>
              <a:rPr lang="fi-FI" sz="1800" dirty="0">
                <a:solidFill>
                  <a:schemeClr val="tx2"/>
                </a:solidFill>
              </a:rPr>
              <a:t>Salt, </a:t>
            </a:r>
            <a:r>
              <a:rPr lang="fi-FI" sz="1800" dirty="0" err="1">
                <a:solidFill>
                  <a:schemeClr val="tx2"/>
                </a:solidFill>
              </a:rPr>
              <a:t>nonce</a:t>
            </a:r>
            <a:endParaRPr lang="fi-FI" sz="1800" dirty="0">
              <a:solidFill>
                <a:schemeClr val="tx2"/>
              </a:solidFill>
            </a:endParaRPr>
          </a:p>
          <a:p>
            <a:r>
              <a:rPr lang="fi-FI" sz="1800" dirty="0">
                <a:solidFill>
                  <a:schemeClr val="tx2"/>
                </a:solidFill>
              </a:rPr>
              <a:t>File </a:t>
            </a:r>
            <a:r>
              <a:rPr lang="fi-FI" sz="1800" dirty="0" err="1">
                <a:solidFill>
                  <a:schemeClr val="tx2"/>
                </a:solidFill>
              </a:rPr>
              <a:t>format</a:t>
            </a:r>
            <a:r>
              <a:rPr lang="fi-FI" sz="1800" dirty="0">
                <a:solidFill>
                  <a:schemeClr val="tx2"/>
                </a:solidFill>
              </a:rPr>
              <a:t> design</a:t>
            </a:r>
          </a:p>
          <a:p>
            <a:r>
              <a:rPr lang="fi-FI" sz="1800" dirty="0">
                <a:solidFill>
                  <a:schemeClr val="tx2"/>
                </a:solidFill>
              </a:rPr>
              <a:t>Memory </a:t>
            </a:r>
            <a:r>
              <a:rPr lang="fi-FI" sz="1800" dirty="0" err="1">
                <a:solidFill>
                  <a:schemeClr val="tx2"/>
                </a:solidFill>
              </a:rPr>
              <a:t>leak</a:t>
            </a:r>
            <a:r>
              <a:rPr lang="fi-FI" sz="1800" dirty="0">
                <a:solidFill>
                  <a:schemeClr val="tx2"/>
                </a:solidFill>
              </a:rPr>
              <a:t> </a:t>
            </a:r>
            <a:r>
              <a:rPr lang="fi-FI" sz="1800" dirty="0" err="1">
                <a:solidFill>
                  <a:schemeClr val="tx2"/>
                </a:solidFill>
              </a:rPr>
              <a:t>preventions</a:t>
            </a:r>
            <a:endParaRPr lang="fi-FI" sz="1800" dirty="0">
              <a:solidFill>
                <a:schemeClr val="tx2"/>
              </a:solidFill>
            </a:endParaRPr>
          </a:p>
          <a:p>
            <a:endParaRPr lang="fi-FI" sz="18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662564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C582B07-D0F0-4B6B-A5D9-D2F192CB3A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71D79C9-FD78-4D11-A424-0002509BD3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FB6DB01C-9C1F-4164-99EC-F0C2A75CD1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2200" y="10905"/>
            <a:ext cx="2452128" cy="3034118"/>
          </a:xfrm>
          <a:custGeom>
            <a:avLst/>
            <a:gdLst>
              <a:gd name="connsiteX0" fmla="*/ 1346716 w 2452128"/>
              <a:gd name="connsiteY0" fmla="*/ 0 h 3034118"/>
              <a:gd name="connsiteX1" fmla="*/ 2306895 w 2452128"/>
              <a:gd name="connsiteY1" fmla="*/ 0 h 3034118"/>
              <a:gd name="connsiteX2" fmla="*/ 2351179 w 2452128"/>
              <a:gd name="connsiteY2" fmla="*/ 120993 h 3034118"/>
              <a:gd name="connsiteX3" fmla="*/ 2452128 w 2452128"/>
              <a:gd name="connsiteY3" fmla="*/ 788709 h 3034118"/>
              <a:gd name="connsiteX4" fmla="*/ 206719 w 2452128"/>
              <a:gd name="connsiteY4" fmla="*/ 3034118 h 3034118"/>
              <a:gd name="connsiteX5" fmla="*/ 0 w 2452128"/>
              <a:gd name="connsiteY5" fmla="*/ 3023680 h 3034118"/>
              <a:gd name="connsiteX6" fmla="*/ 0 w 2452128"/>
              <a:gd name="connsiteY6" fmla="*/ 2158450 h 3034118"/>
              <a:gd name="connsiteX7" fmla="*/ 64926 w 2452128"/>
              <a:gd name="connsiteY7" fmla="*/ 2168359 h 3034118"/>
              <a:gd name="connsiteX8" fmla="*/ 206719 w 2452128"/>
              <a:gd name="connsiteY8" fmla="*/ 2175519 h 3034118"/>
              <a:gd name="connsiteX9" fmla="*/ 1593529 w 2452128"/>
              <a:gd name="connsiteY9" fmla="*/ 788709 h 3034118"/>
              <a:gd name="connsiteX10" fmla="*/ 1356684 w 2452128"/>
              <a:gd name="connsiteY10" fmla="*/ 13330 h 30341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452128" h="3034118">
                <a:moveTo>
                  <a:pt x="1346716" y="0"/>
                </a:moveTo>
                <a:lnTo>
                  <a:pt x="2306895" y="0"/>
                </a:lnTo>
                <a:lnTo>
                  <a:pt x="2351179" y="120993"/>
                </a:lnTo>
                <a:cubicBezTo>
                  <a:pt x="2416786" y="331924"/>
                  <a:pt x="2452128" y="556189"/>
                  <a:pt x="2452128" y="788709"/>
                </a:cubicBezTo>
                <a:cubicBezTo>
                  <a:pt x="2452128" y="2028814"/>
                  <a:pt x="1446824" y="3034118"/>
                  <a:pt x="206719" y="3034118"/>
                </a:cubicBezTo>
                <a:lnTo>
                  <a:pt x="0" y="3023680"/>
                </a:lnTo>
                <a:lnTo>
                  <a:pt x="0" y="2158450"/>
                </a:lnTo>
                <a:lnTo>
                  <a:pt x="64926" y="2168359"/>
                </a:lnTo>
                <a:cubicBezTo>
                  <a:pt x="111546" y="2173094"/>
                  <a:pt x="158850" y="2175519"/>
                  <a:pt x="206719" y="2175519"/>
                </a:cubicBezTo>
                <a:cubicBezTo>
                  <a:pt x="972633" y="2175519"/>
                  <a:pt x="1593529" y="1554623"/>
                  <a:pt x="1593529" y="788709"/>
                </a:cubicBezTo>
                <a:cubicBezTo>
                  <a:pt x="1593529" y="501491"/>
                  <a:pt x="1506216" y="234667"/>
                  <a:pt x="1356684" y="13330"/>
                </a:cubicBezTo>
                <a:close/>
              </a:path>
            </a:pathLst>
          </a:custGeom>
          <a:solidFill>
            <a:schemeClr val="accent3">
              <a:lumMod val="20000"/>
              <a:lumOff val="8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919796AB-81F4-4FC8-8171-F4BECA869B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4240" y="0"/>
            <a:ext cx="4893352" cy="2394886"/>
          </a:xfrm>
          <a:custGeom>
            <a:avLst/>
            <a:gdLst>
              <a:gd name="connsiteX0" fmla="*/ 0 w 4893352"/>
              <a:gd name="connsiteY0" fmla="*/ 0 h 2394886"/>
              <a:gd name="connsiteX1" fmla="*/ 818991 w 4893352"/>
              <a:gd name="connsiteY1" fmla="*/ 0 h 2394886"/>
              <a:gd name="connsiteX2" fmla="*/ 824655 w 4893352"/>
              <a:gd name="connsiteY2" fmla="*/ 112159 h 2394886"/>
              <a:gd name="connsiteX3" fmla="*/ 2446675 w 4893352"/>
              <a:gd name="connsiteY3" fmla="*/ 1575894 h 2394886"/>
              <a:gd name="connsiteX4" fmla="*/ 4068695 w 4893352"/>
              <a:gd name="connsiteY4" fmla="*/ 112159 h 2394886"/>
              <a:gd name="connsiteX5" fmla="*/ 4074359 w 4893352"/>
              <a:gd name="connsiteY5" fmla="*/ 0 h 2394886"/>
              <a:gd name="connsiteX6" fmla="*/ 4893352 w 4893352"/>
              <a:gd name="connsiteY6" fmla="*/ 0 h 2394886"/>
              <a:gd name="connsiteX7" fmla="*/ 4883460 w 4893352"/>
              <a:gd name="connsiteY7" fmla="*/ 195896 h 2394886"/>
              <a:gd name="connsiteX8" fmla="*/ 2446676 w 4893352"/>
              <a:gd name="connsiteY8" fmla="*/ 2394886 h 2394886"/>
              <a:gd name="connsiteX9" fmla="*/ 9892 w 4893352"/>
              <a:gd name="connsiteY9" fmla="*/ 195896 h 239488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4893352" h="2394886">
                <a:moveTo>
                  <a:pt x="0" y="0"/>
                </a:moveTo>
                <a:lnTo>
                  <a:pt x="818991" y="0"/>
                </a:lnTo>
                <a:lnTo>
                  <a:pt x="824655" y="112159"/>
                </a:lnTo>
                <a:cubicBezTo>
                  <a:pt x="908150" y="934317"/>
                  <a:pt x="1602488" y="1575894"/>
                  <a:pt x="2446675" y="1575894"/>
                </a:cubicBezTo>
                <a:cubicBezTo>
                  <a:pt x="3290862" y="1575894"/>
                  <a:pt x="3985201" y="934317"/>
                  <a:pt x="4068695" y="112159"/>
                </a:cubicBezTo>
                <a:lnTo>
                  <a:pt x="4074359" y="0"/>
                </a:lnTo>
                <a:lnTo>
                  <a:pt x="4893352" y="0"/>
                </a:lnTo>
                <a:lnTo>
                  <a:pt x="4883460" y="195896"/>
                </a:lnTo>
                <a:cubicBezTo>
                  <a:pt x="4758025" y="1431036"/>
                  <a:pt x="3714910" y="2394886"/>
                  <a:pt x="2446676" y="2394886"/>
                </a:cubicBezTo>
                <a:cubicBezTo>
                  <a:pt x="1178442" y="2394886"/>
                  <a:pt x="135328" y="1431036"/>
                  <a:pt x="9892" y="195896"/>
                </a:cubicBezTo>
                <a:close/>
              </a:path>
            </a:pathLst>
          </a:custGeom>
          <a:solidFill>
            <a:schemeClr val="accent1">
              <a:lumMod val="20000"/>
              <a:lumOff val="8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16" name="Right Triangle 15">
            <a:extLst>
              <a:ext uri="{FF2B5EF4-FFF2-40B4-BE49-F238E27FC236}">
                <a16:creationId xmlns:a16="http://schemas.microsoft.com/office/drawing/2014/main" id="{DA1A4301-6FFC-4C82-A1FA-7634D8CAA8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84145" y="3546697"/>
            <a:ext cx="568289" cy="568289"/>
          </a:xfrm>
          <a:prstGeom prst="rtTriangle">
            <a:avLst/>
          </a:prstGeom>
          <a:solidFill>
            <a:schemeClr val="bg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8323DD1D-77DE-48B2-A0A0-6265801531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214827" cy="6858000"/>
            <a:chOff x="-6214" y="-1"/>
            <a:chExt cx="12214827" cy="6858000"/>
          </a:xfrm>
        </p:grpSpPr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5C230063-C474-48F9-AD35-F649415C22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6251EB77-6139-46FD-BABC-8576465948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A8177B72-4955-469C-BAF0-E076263794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C09269C7-DB34-4A8C-BAC9-2496A058B8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FFA42117-D401-4236-8EAA-EC9095D4C6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6746B91E-6053-4974-B374-9D1B8FBD70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ED5DA8D3-12FB-4731-BDBC-93B6113D0C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7D16B49A-4893-4729-87B8-9A0B8E592D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406D93EE-2329-4706-89C0-BB6C94A39A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3DC3E76F-2DB4-40DA-8C45-943861B172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F56318F6-E559-4DA6-95C0-D2BB10BA64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83243B57-CFAA-461A-AE56-A61CF60F3A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86AEACE9-7BE6-4FC5-9686-47F15ABA56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5DCAE5B4-5700-44A8-91DA-D8415FB04F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F2F9D9C9-D01B-4870-8B33-310D77DF5B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905DDC7F-2142-41F1-B1E3-A37A0B6FD1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1B19576-1AA2-4552-8D7D-831B137814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C504D005-AC5D-4160-8184-5BB45CE004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DA540368-C5A6-4F28-A60E-763362A6E5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767B4722-C810-495C-BB11-45141E367D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83B1706B-6FE4-44FB-B429-E59AE3B16D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F9DD5DAD-1CA2-48BA-94BF-70B1AC2BB5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076A21FA-0159-4468-9737-BDBD342618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0870688F-0FB0-4A4A-9F90-7EAE14CAE2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8F7D7D25-8970-4DD6-A3D7-0D550BA85C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8B480E32-418E-4DE3-B6E7-2F803A2C75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0985F833-A609-4B9C-A0D7-6DF88DB7BA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id="{DAA9A587-B078-4028-A924-4A6DDDA2C4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Straight Connector 46">
              <a:extLst>
                <a:ext uri="{FF2B5EF4-FFF2-40B4-BE49-F238E27FC236}">
                  <a16:creationId xmlns:a16="http://schemas.microsoft.com/office/drawing/2014/main" id="{1E2E5E8E-3025-4C93-9E63-9C47C5BBA9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Otsikko 1">
            <a:extLst>
              <a:ext uri="{FF2B5EF4-FFF2-40B4-BE49-F238E27FC236}">
                <a16:creationId xmlns:a16="http://schemas.microsoft.com/office/drawing/2014/main" id="{B71746C9-B9BA-F627-DE85-DBF045E938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3511417"/>
            <a:ext cx="4712534" cy="2740908"/>
          </a:xfrm>
        </p:spPr>
        <p:txBody>
          <a:bodyPr anchor="t">
            <a:normAutofit/>
          </a:bodyPr>
          <a:lstStyle/>
          <a:p>
            <a:r>
              <a:rPr lang="fi-FI">
                <a:solidFill>
                  <a:schemeClr val="tx2"/>
                </a:solidFill>
              </a:rPr>
              <a:t>Testing</a:t>
            </a:r>
          </a:p>
        </p:txBody>
      </p:sp>
      <p:sp>
        <p:nvSpPr>
          <p:cNvPr id="3" name="Sisällön paikkamerkki 2">
            <a:extLst>
              <a:ext uri="{FF2B5EF4-FFF2-40B4-BE49-F238E27FC236}">
                <a16:creationId xmlns:a16="http://schemas.microsoft.com/office/drawing/2014/main" id="{3F54DFDB-BFF9-1595-74C2-D471BE61B9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88459" y="3511417"/>
            <a:ext cx="5813687" cy="2755940"/>
          </a:xfrm>
        </p:spPr>
        <p:txBody>
          <a:bodyPr anchor="t">
            <a:normAutofit/>
          </a:bodyPr>
          <a:lstStyle/>
          <a:p>
            <a:r>
              <a:rPr lang="fi-FI" sz="1800" dirty="0">
                <a:solidFill>
                  <a:schemeClr val="tx2"/>
                </a:solidFill>
              </a:rPr>
              <a:t>In </a:t>
            </a:r>
            <a:r>
              <a:rPr lang="fi-FI" sz="1800" dirty="0" err="1">
                <a:solidFill>
                  <a:schemeClr val="tx2"/>
                </a:solidFill>
              </a:rPr>
              <a:t>progress</a:t>
            </a:r>
            <a:endParaRPr lang="fi-FI" sz="1800" dirty="0">
              <a:solidFill>
                <a:schemeClr val="tx2"/>
              </a:solidFill>
            </a:endParaRPr>
          </a:p>
          <a:p>
            <a:r>
              <a:rPr lang="fi-FI" sz="1800" dirty="0">
                <a:solidFill>
                  <a:schemeClr val="tx2"/>
                </a:solidFill>
              </a:rPr>
              <a:t>Pipeline</a:t>
            </a:r>
          </a:p>
          <a:p>
            <a:r>
              <a:rPr lang="fi-FI" sz="1800" dirty="0">
                <a:solidFill>
                  <a:schemeClr val="tx2"/>
                </a:solidFill>
              </a:rPr>
              <a:t>Catch2</a:t>
            </a:r>
          </a:p>
        </p:txBody>
      </p:sp>
    </p:spTree>
    <p:extLst>
      <p:ext uri="{BB962C8B-B14F-4D97-AF65-F5344CB8AC3E}">
        <p14:creationId xmlns:p14="http://schemas.microsoft.com/office/powerpoint/2010/main" val="24584721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C582B07-D0F0-4B6B-A5D9-D2F192CB3A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71D79C9-FD78-4D11-A424-0002509BD3F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316368BA-0A3E-4AE0-8333-2364F90C19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13252" y="-6055"/>
            <a:ext cx="12208610" cy="2303672"/>
          </a:xfrm>
          <a:custGeom>
            <a:avLst/>
            <a:gdLst>
              <a:gd name="connsiteX0" fmla="*/ 8951169 w 12178450"/>
              <a:gd name="connsiteY0" fmla="*/ 32 h 2001622"/>
              <a:gd name="connsiteX1" fmla="*/ 11653845 w 12178450"/>
              <a:gd name="connsiteY1" fmla="*/ 209874 h 2001622"/>
              <a:gd name="connsiteX2" fmla="*/ 12178450 w 12178450"/>
              <a:gd name="connsiteY2" fmla="*/ 286723 h 2001622"/>
              <a:gd name="connsiteX3" fmla="*/ 12178450 w 12178450"/>
              <a:gd name="connsiteY3" fmla="*/ 2001622 h 2001622"/>
              <a:gd name="connsiteX4" fmla="*/ 0 w 12178450"/>
              <a:gd name="connsiteY4" fmla="*/ 2001622 h 2001622"/>
              <a:gd name="connsiteX5" fmla="*/ 0 w 12178450"/>
              <a:gd name="connsiteY5" fmla="*/ 1010979 h 2001622"/>
              <a:gd name="connsiteX6" fmla="*/ 8951169 w 12178450"/>
              <a:gd name="connsiteY6" fmla="*/ 32 h 20016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2178450" h="2001622">
                <a:moveTo>
                  <a:pt x="8951169" y="32"/>
                </a:moveTo>
                <a:cubicBezTo>
                  <a:pt x="9704520" y="1593"/>
                  <a:pt x="10578586" y="62133"/>
                  <a:pt x="11653845" y="209874"/>
                </a:cubicBezTo>
                <a:lnTo>
                  <a:pt x="12178450" y="286723"/>
                </a:lnTo>
                <a:lnTo>
                  <a:pt x="12178450" y="2001622"/>
                </a:lnTo>
                <a:lnTo>
                  <a:pt x="0" y="2001622"/>
                </a:lnTo>
                <a:lnTo>
                  <a:pt x="0" y="1010979"/>
                </a:lnTo>
                <a:cubicBezTo>
                  <a:pt x="4768989" y="1010979"/>
                  <a:pt x="5812206" y="-6472"/>
                  <a:pt x="8951169" y="32"/>
                </a:cubicBezTo>
                <a:close/>
              </a:path>
            </a:pathLst>
          </a:custGeom>
          <a:solidFill>
            <a:schemeClr val="accent6">
              <a:lumMod val="20000"/>
              <a:lumOff val="8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4" name="Right Triangle 13">
            <a:extLst>
              <a:ext uri="{FF2B5EF4-FFF2-40B4-BE49-F238E27FC236}">
                <a16:creationId xmlns:a16="http://schemas.microsoft.com/office/drawing/2014/main" id="{DA1A4301-6FFC-4C82-A1FA-7634D8CAA8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84145" y="3546697"/>
            <a:ext cx="568289" cy="568289"/>
          </a:xfrm>
          <a:prstGeom prst="rtTriangle">
            <a:avLst/>
          </a:prstGeom>
          <a:solidFill>
            <a:schemeClr val="bg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8323DD1D-77DE-48B2-A0A0-6265801531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214827" cy="6858000"/>
            <a:chOff x="-6214" y="-1"/>
            <a:chExt cx="12214827" cy="6858000"/>
          </a:xfrm>
        </p:grpSpPr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5C230063-C474-48F9-AD35-F649415C22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6251EB77-6139-46FD-BABC-8576465948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A8177B72-4955-469C-BAF0-E076263794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C09269C7-DB34-4A8C-BAC9-2496A058B8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FFA42117-D401-4236-8EAA-EC9095D4C6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6746B91E-6053-4974-B374-9D1B8FBD70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ED5DA8D3-12FB-4731-BDBC-93B6113D0C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7D16B49A-4893-4729-87B8-9A0B8E592D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406D93EE-2329-4706-89C0-BB6C94A39A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3DC3E76F-2DB4-40DA-8C45-943861B172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F56318F6-E559-4DA6-95C0-D2BB10BA64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83243B57-CFAA-461A-AE56-A61CF60F3A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86AEACE9-7BE6-4FC5-9686-47F15ABA56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5DCAE5B4-5700-44A8-91DA-D8415FB04F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F2F9D9C9-D01B-4870-8B33-310D77DF5B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905DDC7F-2142-41F1-B1E3-A37A0B6FD1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51B19576-1AA2-4552-8D7D-831B137814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C504D005-AC5D-4160-8184-5BB45CE004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DA540368-C5A6-4F28-A60E-763362A6E5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767B4722-C810-495C-BB11-45141E367D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83B1706B-6FE4-44FB-B429-E59AE3B16D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F9DD5DAD-1CA2-48BA-94BF-70B1AC2BB5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076A21FA-0159-4468-9737-BDBD342618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0870688F-0FB0-4A4A-9F90-7EAE14CAE2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8F7D7D25-8970-4DD6-A3D7-0D550BA85C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8B480E32-418E-4DE3-B6E7-2F803A2C75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0985F833-A609-4B9C-A0D7-6DF88DB7BA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id="{DAA9A587-B078-4028-A924-4A6DDDA2C4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44">
              <a:extLst>
                <a:ext uri="{FF2B5EF4-FFF2-40B4-BE49-F238E27FC236}">
                  <a16:creationId xmlns:a16="http://schemas.microsoft.com/office/drawing/2014/main" id="{1E2E5E8E-3025-4C93-9E63-9C47C5BBA9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Otsikko 1">
            <a:extLst>
              <a:ext uri="{FF2B5EF4-FFF2-40B4-BE49-F238E27FC236}">
                <a16:creationId xmlns:a16="http://schemas.microsoft.com/office/drawing/2014/main" id="{5F41BED2-3467-5D4B-DA67-3FAF5300E9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1" y="3511417"/>
            <a:ext cx="4712534" cy="2740908"/>
          </a:xfrm>
        </p:spPr>
        <p:txBody>
          <a:bodyPr anchor="t">
            <a:normAutofit/>
          </a:bodyPr>
          <a:lstStyle/>
          <a:p>
            <a:r>
              <a:rPr lang="fi-FI">
                <a:solidFill>
                  <a:schemeClr val="tx2"/>
                </a:solidFill>
              </a:rPr>
              <a:t>Use of AI</a:t>
            </a:r>
          </a:p>
        </p:txBody>
      </p:sp>
      <p:sp>
        <p:nvSpPr>
          <p:cNvPr id="3" name="Sisällön paikkamerkki 2">
            <a:extLst>
              <a:ext uri="{FF2B5EF4-FFF2-40B4-BE49-F238E27FC236}">
                <a16:creationId xmlns:a16="http://schemas.microsoft.com/office/drawing/2014/main" id="{2494BA08-B88C-30CB-734C-08A507B784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88459" y="3511417"/>
            <a:ext cx="5813687" cy="2755940"/>
          </a:xfrm>
        </p:spPr>
        <p:txBody>
          <a:bodyPr anchor="t">
            <a:normAutofit/>
          </a:bodyPr>
          <a:lstStyle/>
          <a:p>
            <a:r>
              <a:rPr lang="fi-FI" sz="1800" dirty="0" err="1">
                <a:solidFill>
                  <a:schemeClr val="tx2"/>
                </a:solidFill>
              </a:rPr>
              <a:t>Suggestions</a:t>
            </a:r>
            <a:r>
              <a:rPr lang="fi-FI" sz="1800" dirty="0">
                <a:solidFill>
                  <a:schemeClr val="tx2"/>
                </a:solidFill>
              </a:rPr>
              <a:t> for </a:t>
            </a:r>
            <a:r>
              <a:rPr lang="fi-FI" sz="1800" dirty="0" err="1">
                <a:solidFill>
                  <a:schemeClr val="tx2"/>
                </a:solidFill>
              </a:rPr>
              <a:t>next</a:t>
            </a:r>
            <a:r>
              <a:rPr lang="fi-FI" sz="1800" dirty="0">
                <a:solidFill>
                  <a:schemeClr val="tx2"/>
                </a:solidFill>
              </a:rPr>
              <a:t> </a:t>
            </a:r>
            <a:r>
              <a:rPr lang="fi-FI" sz="1800" dirty="0" err="1">
                <a:solidFill>
                  <a:schemeClr val="tx2"/>
                </a:solidFill>
              </a:rPr>
              <a:t>steps</a:t>
            </a:r>
            <a:endParaRPr lang="fi-FI" sz="1800" dirty="0">
              <a:solidFill>
                <a:schemeClr val="tx2"/>
              </a:solidFill>
            </a:endParaRPr>
          </a:p>
          <a:p>
            <a:r>
              <a:rPr lang="fi-FI" sz="1800" dirty="0">
                <a:solidFill>
                  <a:schemeClr val="tx2"/>
                </a:solidFill>
              </a:rPr>
              <a:t>Programming </a:t>
            </a:r>
            <a:r>
              <a:rPr lang="fi-FI" sz="1800" dirty="0" err="1">
                <a:solidFill>
                  <a:schemeClr val="tx2"/>
                </a:solidFill>
              </a:rPr>
              <a:t>advice</a:t>
            </a:r>
            <a:endParaRPr lang="fi-FI" sz="1800" dirty="0">
              <a:solidFill>
                <a:schemeClr val="tx2"/>
              </a:solidFill>
            </a:endParaRPr>
          </a:p>
          <a:p>
            <a:endParaRPr lang="fi-FI" sz="1800" dirty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856598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6" name="Rectangle 155">
            <a:extLst>
              <a:ext uri="{FF2B5EF4-FFF2-40B4-BE49-F238E27FC236}">
                <a16:creationId xmlns:a16="http://schemas.microsoft.com/office/drawing/2014/main" id="{1C582B07-D0F0-4B6B-A5D9-D2F192CB3A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7EE60796-BC52-4154-A3A9-773DE82855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bg2"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bg1"/>
              </a:solidFill>
            </a:endParaRPr>
          </a:p>
        </p:txBody>
      </p:sp>
      <p:sp>
        <p:nvSpPr>
          <p:cNvPr id="160" name="Right Triangle 159">
            <a:extLst>
              <a:ext uri="{FF2B5EF4-FFF2-40B4-BE49-F238E27FC236}">
                <a16:creationId xmlns:a16="http://schemas.microsoft.com/office/drawing/2014/main" id="{DA1A4301-6FFC-4C82-A1FA-7634D8CAA8F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3500000">
            <a:off x="-251324" y="1555703"/>
            <a:ext cx="568289" cy="568289"/>
          </a:xfrm>
          <a:prstGeom prst="rtTriangle">
            <a:avLst/>
          </a:prstGeom>
          <a:solidFill>
            <a:schemeClr val="bg1">
              <a:alpha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2" name="Flowchart: Document 161">
            <a:extLst>
              <a:ext uri="{FF2B5EF4-FFF2-40B4-BE49-F238E27FC236}">
                <a16:creationId xmlns:a16="http://schemas.microsoft.com/office/drawing/2014/main" id="{BFEC1042-3FDC-47A3-BCD7-CA9D052F98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094907" y="1744296"/>
            <a:ext cx="6858000" cy="3369413"/>
          </a:xfrm>
          <a:prstGeom prst="flowChartDocument">
            <a:avLst/>
          </a:prstGeom>
          <a:solidFill>
            <a:schemeClr val="accent6">
              <a:lumMod val="20000"/>
              <a:lumOff val="80000"/>
              <a:alpha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bg1"/>
              </a:solidFill>
            </a:endParaRPr>
          </a:p>
        </p:txBody>
      </p:sp>
      <p:grpSp>
        <p:nvGrpSpPr>
          <p:cNvPr id="164" name="Group 163">
            <a:extLst>
              <a:ext uri="{FF2B5EF4-FFF2-40B4-BE49-F238E27FC236}">
                <a16:creationId xmlns:a16="http://schemas.microsoft.com/office/drawing/2014/main" id="{8323DD1D-77DE-48B2-A0A0-6265801531E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0"/>
            <a:ext cx="12214827" cy="6858000"/>
            <a:chOff x="-6214" y="-1"/>
            <a:chExt cx="12214827" cy="6858000"/>
          </a:xfrm>
        </p:grpSpPr>
        <p:cxnSp>
          <p:nvCxnSpPr>
            <p:cNvPr id="165" name="Straight Connector 164">
              <a:extLst>
                <a:ext uri="{FF2B5EF4-FFF2-40B4-BE49-F238E27FC236}">
                  <a16:creationId xmlns:a16="http://schemas.microsoft.com/office/drawing/2014/main" id="{5C230063-C474-48F9-AD35-F649415C22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-6214" y="6686283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6" name="Straight Connector 165">
              <a:extLst>
                <a:ext uri="{FF2B5EF4-FFF2-40B4-BE49-F238E27FC236}">
                  <a16:creationId xmlns:a16="http://schemas.microsoft.com/office/drawing/2014/main" id="{6251EB77-6139-46FD-BABC-85764659488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7" name="Straight Connector 166">
              <a:extLst>
                <a:ext uri="{FF2B5EF4-FFF2-40B4-BE49-F238E27FC236}">
                  <a16:creationId xmlns:a16="http://schemas.microsoft.com/office/drawing/2014/main" id="{A8177B72-4955-469C-BAF0-E076263794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9325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Straight Connector 167">
              <a:extLst>
                <a:ext uri="{FF2B5EF4-FFF2-40B4-BE49-F238E27FC236}">
                  <a16:creationId xmlns:a16="http://schemas.microsoft.com/office/drawing/2014/main" id="{C09269C7-DB34-4A8C-BAC9-2496A058B8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9252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9" name="Straight Connector 168">
              <a:extLst>
                <a:ext uri="{FF2B5EF4-FFF2-40B4-BE49-F238E27FC236}">
                  <a16:creationId xmlns:a16="http://schemas.microsoft.com/office/drawing/2014/main" id="{FFA42117-D401-4236-8EAA-EC9095D4C64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9196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" name="Straight Connector 169">
              <a:extLst>
                <a:ext uri="{FF2B5EF4-FFF2-40B4-BE49-F238E27FC236}">
                  <a16:creationId xmlns:a16="http://schemas.microsoft.com/office/drawing/2014/main" id="{6746B91E-6053-4974-B374-9D1B8FBD70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9140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Straight Connector 170">
              <a:extLst>
                <a:ext uri="{FF2B5EF4-FFF2-40B4-BE49-F238E27FC236}">
                  <a16:creationId xmlns:a16="http://schemas.microsoft.com/office/drawing/2014/main" id="{ED5DA8D3-12FB-4731-BDBC-93B6113D0C4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9084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2" name="Straight Connector 171">
              <a:extLst>
                <a:ext uri="{FF2B5EF4-FFF2-40B4-BE49-F238E27FC236}">
                  <a16:creationId xmlns:a16="http://schemas.microsoft.com/office/drawing/2014/main" id="{7D16B49A-4893-4729-87B8-9A0B8E592D9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9028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3" name="Straight Connector 172">
              <a:extLst>
                <a:ext uri="{FF2B5EF4-FFF2-40B4-BE49-F238E27FC236}">
                  <a16:creationId xmlns:a16="http://schemas.microsoft.com/office/drawing/2014/main" id="{406D93EE-2329-4706-89C0-BB6C94A39A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18971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Straight Connector 173">
              <a:extLst>
                <a:ext uri="{FF2B5EF4-FFF2-40B4-BE49-F238E27FC236}">
                  <a16:creationId xmlns:a16="http://schemas.microsoft.com/office/drawing/2014/main" id="{3DC3E76F-2DB4-40DA-8C45-943861B1723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618915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5" name="Straight Connector 174">
              <a:extLst>
                <a:ext uri="{FF2B5EF4-FFF2-40B4-BE49-F238E27FC236}">
                  <a16:creationId xmlns:a16="http://schemas.microsoft.com/office/drawing/2014/main" id="{F56318F6-E559-4DA6-95C0-D2BB10BA641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188594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6" name="Straight Connector 175">
              <a:extLst>
                <a:ext uri="{FF2B5EF4-FFF2-40B4-BE49-F238E27FC236}">
                  <a16:creationId xmlns:a16="http://schemas.microsoft.com/office/drawing/2014/main" id="{83243B57-CFAA-461A-AE56-A61CF60F3AD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8188032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7" name="Straight Connector 176">
              <a:extLst>
                <a:ext uri="{FF2B5EF4-FFF2-40B4-BE49-F238E27FC236}">
                  <a16:creationId xmlns:a16="http://schemas.microsoft.com/office/drawing/2014/main" id="{86AEACE9-7BE6-4FC5-9686-47F15ABA56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9187470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8" name="Straight Connector 177">
              <a:extLst>
                <a:ext uri="{FF2B5EF4-FFF2-40B4-BE49-F238E27FC236}">
                  <a16:creationId xmlns:a16="http://schemas.microsoft.com/office/drawing/2014/main" id="{5DCAE5B4-5700-44A8-91DA-D8415FB04FA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0186908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9" name="Straight Connector 178">
              <a:extLst>
                <a:ext uri="{FF2B5EF4-FFF2-40B4-BE49-F238E27FC236}">
                  <a16:creationId xmlns:a16="http://schemas.microsoft.com/office/drawing/2014/main" id="{F2F9D9C9-D01B-4870-8B33-310D77DF5B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118634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0" name="Straight Connector 179">
              <a:extLst>
                <a:ext uri="{FF2B5EF4-FFF2-40B4-BE49-F238E27FC236}">
                  <a16:creationId xmlns:a16="http://schemas.microsoft.com/office/drawing/2014/main" id="{905DDC7F-2142-41F1-B1E3-A37A0B6FD1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2185786" y="-1"/>
              <a:ext cx="0" cy="685800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1" name="Straight Connector 180">
              <a:extLst>
                <a:ext uri="{FF2B5EF4-FFF2-40B4-BE49-F238E27FC236}">
                  <a16:creationId xmlns:a16="http://schemas.microsoft.com/office/drawing/2014/main" id="{51B19576-1AA2-4552-8D7D-831B1378149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717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2" name="Straight Connector 181">
              <a:extLst>
                <a:ext uri="{FF2B5EF4-FFF2-40B4-BE49-F238E27FC236}">
                  <a16:creationId xmlns:a16="http://schemas.microsoft.com/office/drawing/2014/main" id="{C504D005-AC5D-4160-8184-5BB45CE004E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72890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3" name="Straight Connector 182">
              <a:extLst>
                <a:ext uri="{FF2B5EF4-FFF2-40B4-BE49-F238E27FC236}">
                  <a16:creationId xmlns:a16="http://schemas.microsoft.com/office/drawing/2014/main" id="{DA540368-C5A6-4F28-A60E-763362A6E5B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28609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Straight Connector 183">
              <a:extLst>
                <a:ext uri="{FF2B5EF4-FFF2-40B4-BE49-F238E27FC236}">
                  <a16:creationId xmlns:a16="http://schemas.microsoft.com/office/drawing/2014/main" id="{767B4722-C810-495C-BB11-45141E367D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184328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5" name="Straight Connector 184">
              <a:extLst>
                <a:ext uri="{FF2B5EF4-FFF2-40B4-BE49-F238E27FC236}">
                  <a16:creationId xmlns:a16="http://schemas.microsoft.com/office/drawing/2014/main" id="{83B1706B-6FE4-44FB-B429-E59AE3B16DB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40047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Straight Connector 185">
              <a:extLst>
                <a:ext uri="{FF2B5EF4-FFF2-40B4-BE49-F238E27FC236}">
                  <a16:creationId xmlns:a16="http://schemas.microsoft.com/office/drawing/2014/main" id="{F9DD5DAD-1CA2-48BA-94BF-70B1AC2BB58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295766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Straight Connector 186">
              <a:extLst>
                <a:ext uri="{FF2B5EF4-FFF2-40B4-BE49-F238E27FC236}">
                  <a16:creationId xmlns:a16="http://schemas.microsoft.com/office/drawing/2014/main" id="{076A21FA-0159-4468-9737-BDBD342618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351485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Straight Connector 187">
              <a:extLst>
                <a:ext uri="{FF2B5EF4-FFF2-40B4-BE49-F238E27FC236}">
                  <a16:creationId xmlns:a16="http://schemas.microsoft.com/office/drawing/2014/main" id="{0870688F-0FB0-4A4A-9F90-7EAE14CAE20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07204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9" name="Straight Connector 188">
              <a:extLst>
                <a:ext uri="{FF2B5EF4-FFF2-40B4-BE49-F238E27FC236}">
                  <a16:creationId xmlns:a16="http://schemas.microsoft.com/office/drawing/2014/main" id="{8F7D7D25-8970-4DD6-A3D7-0D550BA85CF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462923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Straight Connector 189">
              <a:extLst>
                <a:ext uri="{FF2B5EF4-FFF2-40B4-BE49-F238E27FC236}">
                  <a16:creationId xmlns:a16="http://schemas.microsoft.com/office/drawing/2014/main" id="{8B480E32-418E-4DE3-B6E7-2F803A2C756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18642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Straight Connector 190">
              <a:extLst>
                <a:ext uri="{FF2B5EF4-FFF2-40B4-BE49-F238E27FC236}">
                  <a16:creationId xmlns:a16="http://schemas.microsoft.com/office/drawing/2014/main" id="{0985F833-A609-4B9C-A0D7-6DF88DB7BA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5743616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Straight Connector 191">
              <a:extLst>
                <a:ext uri="{FF2B5EF4-FFF2-40B4-BE49-F238E27FC236}">
                  <a16:creationId xmlns:a16="http://schemas.microsoft.com/office/drawing/2014/main" id="{DAA9A587-B078-4028-A924-4A6DDDA2C4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0" y="6857999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Straight Connector 192">
              <a:extLst>
                <a:ext uri="{FF2B5EF4-FFF2-40B4-BE49-F238E27FC236}">
                  <a16:creationId xmlns:a16="http://schemas.microsoft.com/office/drawing/2014/main" id="{1E2E5E8E-3025-4C93-9E63-9C47C5BBA99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16613" y="6248400"/>
              <a:ext cx="12192000" cy="0"/>
            </a:xfrm>
            <a:prstGeom prst="line">
              <a:avLst/>
            </a:prstGeom>
            <a:ln w="19050">
              <a:solidFill>
                <a:schemeClr val="accent2">
                  <a:alpha val="15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Otsikko 1">
            <a:extLst>
              <a:ext uri="{FF2B5EF4-FFF2-40B4-BE49-F238E27FC236}">
                <a16:creationId xmlns:a16="http://schemas.microsoft.com/office/drawing/2014/main" id="{55130C7C-49C3-709E-DD60-90549E425C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732348"/>
            <a:ext cx="6159160" cy="2240735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dirty="0">
                <a:solidFill>
                  <a:schemeClr val="tx2"/>
                </a:solidFill>
              </a:rPr>
              <a:t>Flaws</a:t>
            </a:r>
          </a:p>
        </p:txBody>
      </p:sp>
      <p:sp>
        <p:nvSpPr>
          <p:cNvPr id="153" name="Content Placeholder 152">
            <a:extLst>
              <a:ext uri="{FF2B5EF4-FFF2-40B4-BE49-F238E27FC236}">
                <a16:creationId xmlns:a16="http://schemas.microsoft.com/office/drawing/2014/main" id="{C7B11033-FEB0-3A17-3899-0072B6D3761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3264832"/>
            <a:ext cx="6159160" cy="2980124"/>
          </a:xfrm>
        </p:spPr>
        <p:txBody>
          <a:bodyPr>
            <a:normAutofit/>
          </a:bodyPr>
          <a:lstStyle/>
          <a:p>
            <a:r>
              <a:rPr lang="en-US" sz="1800" dirty="0">
                <a:solidFill>
                  <a:schemeClr val="tx2"/>
                </a:solidFill>
              </a:rPr>
              <a:t>User input </a:t>
            </a:r>
          </a:p>
          <a:p>
            <a:r>
              <a:rPr lang="en-US" sz="1800" dirty="0">
                <a:solidFill>
                  <a:schemeClr val="tx2"/>
                </a:solidFill>
              </a:rPr>
              <a:t>Master password</a:t>
            </a:r>
          </a:p>
        </p:txBody>
      </p:sp>
      <p:pic>
        <p:nvPicPr>
          <p:cNvPr id="7" name="Sisällön paikkamerkki 6" descr="Why does it have to be so complicated? 😂 #TechStruggles #PasswordProblems  #RelatableMemes #MondayMood #DigitalLife">
            <a:extLst>
              <a:ext uri="{FF2B5EF4-FFF2-40B4-BE49-F238E27FC236}">
                <a16:creationId xmlns:a16="http://schemas.microsoft.com/office/drawing/2014/main" id="{0A5203DA-F2C5-C196-4BFF-F14917582D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073" y="721081"/>
            <a:ext cx="4964497" cy="5523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2029063"/>
      </p:ext>
    </p:extLst>
  </p:cSld>
  <p:clrMapOvr>
    <a:masterClrMapping/>
  </p:clrMapOvr>
</p:sld>
</file>

<file path=ppt/theme/theme1.xml><?xml version="1.0" encoding="utf-8"?>
<a:theme xmlns:a="http://schemas.openxmlformats.org/drawingml/2006/main" name="SineVTI">
  <a:themeElements>
    <a:clrScheme name="Custom 51">
      <a:dk1>
        <a:sysClr val="windowText" lastClr="000000"/>
      </a:dk1>
      <a:lt1>
        <a:sysClr val="window" lastClr="FFFFFF"/>
      </a:lt1>
      <a:dk2>
        <a:srgbClr val="12154E"/>
      </a:dk2>
      <a:lt2>
        <a:srgbClr val="EEEEEE"/>
      </a:lt2>
      <a:accent1>
        <a:srgbClr val="FD8686"/>
      </a:accent1>
      <a:accent2>
        <a:srgbClr val="B495C2"/>
      </a:accent2>
      <a:accent3>
        <a:srgbClr val="8F99BB"/>
      </a:accent3>
      <a:accent4>
        <a:srgbClr val="A3A3C1"/>
      </a:accent4>
      <a:accent5>
        <a:srgbClr val="7162FE"/>
      </a:accent5>
      <a:accent6>
        <a:srgbClr val="1EBE9B"/>
      </a:accent6>
      <a:hlink>
        <a:srgbClr val="EF08F7"/>
      </a:hlink>
      <a:folHlink>
        <a:srgbClr val="8477FE"/>
      </a:folHlink>
    </a:clrScheme>
    <a:fontScheme name="Custom 49">
      <a:majorFont>
        <a:latin typeface="Posterama"/>
        <a:ea typeface=""/>
        <a:cs typeface=""/>
      </a:majorFont>
      <a:minorFont>
        <a:latin typeface="Avenir Next L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ineVTI" id="{8435B2A2-1BD5-4C05-93E5-3C5388B709E3}" vid="{0D704B13-63FE-4848-A298-6B7359B95653}"/>
    </a:ext>
  </a:extLst>
</a:theme>
</file>

<file path=ppt/theme/theme2.xml><?xml version="1.0" encoding="utf-8"?>
<a:theme xmlns:a="http://schemas.openxmlformats.org/drawingml/2006/main" name="Office-te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666</TotalTime>
  <Words>278</Words>
  <Application>Microsoft Office PowerPoint</Application>
  <PresentationFormat>Laajakuva</PresentationFormat>
  <Paragraphs>64</Paragraphs>
  <Slides>6</Slides>
  <Notes>6</Notes>
  <HiddenSlides>0</HiddenSlides>
  <MMClips>0</MMClips>
  <ScaleCrop>false</ScaleCrop>
  <HeadingPairs>
    <vt:vector size="6" baseType="variant">
      <vt:variant>
        <vt:lpstr>Käytetyt fontit</vt:lpstr>
      </vt:variant>
      <vt:variant>
        <vt:i4>4</vt:i4>
      </vt:variant>
      <vt:variant>
        <vt:lpstr>Teema</vt:lpstr>
      </vt:variant>
      <vt:variant>
        <vt:i4>1</vt:i4>
      </vt:variant>
      <vt:variant>
        <vt:lpstr>Dian otsikot</vt:lpstr>
      </vt:variant>
      <vt:variant>
        <vt:i4>6</vt:i4>
      </vt:variant>
    </vt:vector>
  </HeadingPairs>
  <TitlesOfParts>
    <vt:vector size="11" baseType="lpstr">
      <vt:lpstr>Aptos</vt:lpstr>
      <vt:lpstr>Arial</vt:lpstr>
      <vt:lpstr>Avenir Next LT Pro</vt:lpstr>
      <vt:lpstr>Posterama</vt:lpstr>
      <vt:lpstr>SineVTI</vt:lpstr>
      <vt:lpstr>MyManager</vt:lpstr>
      <vt:lpstr>Programming language &amp; libraries used</vt:lpstr>
      <vt:lpstr>Security</vt:lpstr>
      <vt:lpstr>Testing</vt:lpstr>
      <vt:lpstr>Use of AI</vt:lpstr>
      <vt:lpstr>Flaws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Toni Heikkilä</dc:creator>
  <cp:lastModifiedBy>Toni Heikkilä</cp:lastModifiedBy>
  <cp:revision>2</cp:revision>
  <dcterms:created xsi:type="dcterms:W3CDTF">2026-05-06T07:15:23Z</dcterms:created>
  <dcterms:modified xsi:type="dcterms:W3CDTF">2026-05-18T10:26:16Z</dcterms:modified>
</cp:coreProperties>
</file>