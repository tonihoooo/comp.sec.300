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F8467-FE61-4FB0-9525-4133474C28E4}" type="datetimeFigureOut">
              <a:rPr lang="fi-FI" smtClean="0"/>
              <a:t>6.5.2026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7D120-A71B-4047-AB70-FC2EE207E1C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5279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/>
              <a:t>demo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7D120-A71B-4047-AB70-FC2EE207E1C5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71660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Libsodium</a:t>
            </a:r>
            <a:r>
              <a:rPr lang="en-US" dirty="0"/>
              <a:t> is a high-level cryptographic library that replaces error-prone custom encryption with well-tested, industry-standard primitives</a:t>
            </a:r>
          </a:p>
          <a:p>
            <a:endParaRPr lang="en-US" dirty="0"/>
          </a:p>
          <a:p>
            <a:r>
              <a:rPr lang="en-US" dirty="0"/>
              <a:t>Catch2 is used to automate correctness verification of critical components like encryption, storage, and vault logic.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7D120-A71B-4047-AB70-FC2EE207E1C5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7192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 -&gt; LIBSODIUM</a:t>
            </a:r>
          </a:p>
          <a:p>
            <a:endParaRPr lang="en-US" dirty="0"/>
          </a:p>
          <a:p>
            <a:r>
              <a:rPr lang="en-US" dirty="0"/>
              <a:t>🔓 </a:t>
            </a:r>
            <a:r>
              <a:rPr lang="en-US" b="1" dirty="0"/>
              <a:t>Pattern leakage</a:t>
            </a:r>
            <a:r>
              <a:rPr lang="en-US" dirty="0"/>
              <a:t>: repeating key creates predictable structure 🔓 </a:t>
            </a:r>
            <a:r>
              <a:rPr lang="en-US" b="1" dirty="0"/>
              <a:t>Known-plaintext attacks</a:t>
            </a:r>
            <a:r>
              <a:rPr lang="en-US" dirty="0"/>
              <a:t>: if attacker knows part of plaintext → key can be recovered 🔓 </a:t>
            </a:r>
            <a:r>
              <a:rPr lang="en-US" b="1" dirty="0"/>
              <a:t>No authentication</a:t>
            </a:r>
            <a:r>
              <a:rPr lang="en-US" dirty="0"/>
              <a:t>: attacker can modify ciphertext without detection 🔓 </a:t>
            </a:r>
            <a:r>
              <a:rPr lang="en-US" b="1" dirty="0"/>
              <a:t>No key strengthening</a:t>
            </a:r>
            <a:r>
              <a:rPr lang="en-US" dirty="0"/>
              <a:t>: password is used directly (very weak against brute force)</a:t>
            </a:r>
          </a:p>
          <a:p>
            <a:endParaRPr lang="en-US" dirty="0"/>
          </a:p>
          <a:p>
            <a:r>
              <a:rPr lang="en-US" dirty="0"/>
              <a:t>ENCRYPT</a:t>
            </a:r>
          </a:p>
          <a:p>
            <a:endParaRPr lang="en-US" dirty="0"/>
          </a:p>
          <a:p>
            <a:r>
              <a:rPr lang="en-US" dirty="0"/>
              <a:t>A unique salt is generated for every encryption.</a:t>
            </a:r>
          </a:p>
          <a:p>
            <a:endParaRPr lang="en-US" dirty="0"/>
          </a:p>
          <a:p>
            <a:r>
              <a:rPr lang="en-US" dirty="0"/>
              <a:t>memory-hard function. This slows down brute-force attacks and strengthens weak passwords</a:t>
            </a:r>
          </a:p>
          <a:p>
            <a:endParaRPr lang="en-US" dirty="0"/>
          </a:p>
          <a:p>
            <a:r>
              <a:rPr lang="en-US" dirty="0" err="1"/>
              <a:t>Crypto_secretbox</a:t>
            </a:r>
            <a:r>
              <a:rPr lang="en-US" dirty="0"/>
              <a:t>: This performs authenticated encryption. It ensures both confidentiality and </a:t>
            </a:r>
            <a:r>
              <a:rPr lang="en-US" dirty="0" err="1"/>
              <a:t>integrit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“The nonce ensures that encrypting the same data twice produces different ciphertexts, preventing pattern analysis.”</a:t>
            </a:r>
          </a:p>
          <a:p>
            <a:endParaRPr lang="en-US" dirty="0"/>
          </a:p>
          <a:p>
            <a:r>
              <a:rPr lang="en-US" dirty="0"/>
              <a:t>DECRYPT</a:t>
            </a:r>
          </a:p>
          <a:p>
            <a:endParaRPr lang="en-US" dirty="0"/>
          </a:p>
          <a:p>
            <a:r>
              <a:rPr lang="en-US" dirty="0"/>
              <a:t>“We first extract salt, nonce, and ciphertext from the stored binary format.”</a:t>
            </a:r>
          </a:p>
          <a:p>
            <a:endParaRPr lang="en-US" dirty="0"/>
          </a:p>
          <a:p>
            <a:r>
              <a:rPr lang="en-US" dirty="0"/>
              <a:t>crypto:_</a:t>
            </a:r>
            <a:r>
              <a:rPr lang="en-US" dirty="0" err="1"/>
              <a:t>secretbox</a:t>
            </a:r>
            <a:r>
              <a:rPr lang="en-US" dirty="0"/>
              <a:t>: “This step both decrypts and verifies integrity. If anything is incorrect — wrong password, corrupted file, or tampering — it fails.</a:t>
            </a:r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FILE FORMAT DESIGN:</a:t>
            </a:r>
          </a:p>
          <a:p>
            <a:r>
              <a:rPr lang="fi-FI" dirty="0" err="1"/>
              <a:t>Specific</a:t>
            </a:r>
            <a:r>
              <a:rPr lang="fi-FI" dirty="0"/>
              <a:t> </a:t>
            </a:r>
            <a:r>
              <a:rPr lang="fi-FI" dirty="0" err="1"/>
              <a:t>format</a:t>
            </a:r>
            <a:r>
              <a:rPr lang="fi-FI" dirty="0"/>
              <a:t>, MAGIC -&gt; VERSION -&gt; DATA</a:t>
            </a:r>
          </a:p>
          <a:p>
            <a:endParaRPr lang="fi-FI" dirty="0"/>
          </a:p>
          <a:p>
            <a:r>
              <a:rPr lang="fi-FI" dirty="0"/>
              <a:t>MEEMORYLEAKPREVENTION:</a:t>
            </a:r>
          </a:p>
          <a:p>
            <a:endParaRPr lang="fi-FI" dirty="0"/>
          </a:p>
          <a:p>
            <a:r>
              <a:rPr lang="fi-FI" dirty="0"/>
              <a:t>Show </a:t>
            </a:r>
            <a:r>
              <a:rPr lang="fi-FI" dirty="0" err="1"/>
              <a:t>end</a:t>
            </a:r>
            <a:r>
              <a:rPr lang="fi-FI" dirty="0"/>
              <a:t> of main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7D120-A71B-4047-AB70-FC2EE207E1C5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83348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/>
              <a:t>Show some </a:t>
            </a:r>
            <a:r>
              <a:rPr lang="fi-FI" dirty="0" err="1"/>
              <a:t>test</a:t>
            </a:r>
            <a:r>
              <a:rPr lang="fi-FI" dirty="0"/>
              <a:t> </a:t>
            </a:r>
            <a:r>
              <a:rPr lang="fi-FI" dirty="0" err="1"/>
              <a:t>cases</a:t>
            </a:r>
            <a:endParaRPr lang="fi-FI" dirty="0"/>
          </a:p>
          <a:p>
            <a:r>
              <a:rPr lang="fi-FI" dirty="0"/>
              <a:t>Show </a:t>
            </a:r>
            <a:r>
              <a:rPr lang="fi-FI" dirty="0" err="1"/>
              <a:t>terminal</a:t>
            </a:r>
            <a:endParaRPr lang="fi-FI" dirty="0"/>
          </a:p>
          <a:p>
            <a:r>
              <a:rPr lang="fi-FI" dirty="0"/>
              <a:t>Show catch.hpp</a:t>
            </a:r>
          </a:p>
          <a:p>
            <a:r>
              <a:rPr lang="fi-FI" dirty="0"/>
              <a:t>Tell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it’s</a:t>
            </a:r>
            <a:r>
              <a:rPr lang="fi-FI" dirty="0"/>
              <a:t> baby </a:t>
            </a:r>
            <a:r>
              <a:rPr lang="fi-FI" dirty="0" err="1"/>
              <a:t>steps</a:t>
            </a:r>
            <a:r>
              <a:rPr lang="fi-FI" dirty="0"/>
              <a:t> atm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7D120-A71B-4047-AB70-FC2EE207E1C5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4925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Openai</a:t>
            </a:r>
            <a:r>
              <a:rPr lang="fi-FI" dirty="0"/>
              <a:t>, </a:t>
            </a:r>
            <a:r>
              <a:rPr lang="fi-FI" dirty="0" err="1"/>
              <a:t>latest</a:t>
            </a:r>
            <a:r>
              <a:rPr lang="fi-FI" dirty="0"/>
              <a:t> </a:t>
            </a:r>
            <a:r>
              <a:rPr lang="fi-FI" dirty="0" err="1"/>
              <a:t>chatgpt</a:t>
            </a:r>
            <a:endParaRPr lang="fi-FI" dirty="0"/>
          </a:p>
          <a:p>
            <a:r>
              <a:rPr lang="fi-FI" dirty="0" err="1"/>
              <a:t>Copilot</a:t>
            </a:r>
            <a:r>
              <a:rPr lang="fi-FI" dirty="0"/>
              <a:t> in </a:t>
            </a:r>
            <a:r>
              <a:rPr lang="fi-FI" dirty="0" err="1"/>
              <a:t>vscode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7D120-A71B-4047-AB70-FC2EE207E1C5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57701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/>
              <a:t>User input </a:t>
            </a:r>
            <a:r>
              <a:rPr lang="fi-FI" dirty="0" err="1"/>
              <a:t>especilly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spaces</a:t>
            </a:r>
            <a:r>
              <a:rPr lang="fi-FI" dirty="0"/>
              <a:t> </a:t>
            </a:r>
            <a:r>
              <a:rPr lang="fi-FI" dirty="0" err="1"/>
              <a:t>tricky</a:t>
            </a:r>
            <a:r>
              <a:rPr lang="fi-FI" dirty="0"/>
              <a:t>, </a:t>
            </a:r>
            <a:r>
              <a:rPr lang="fi-FI" dirty="0" err="1"/>
              <a:t>needs</a:t>
            </a:r>
            <a:r>
              <a:rPr lang="fi-FI" dirty="0"/>
              <a:t> </a:t>
            </a:r>
            <a:r>
              <a:rPr lang="fi-FI" dirty="0" err="1"/>
              <a:t>clever</a:t>
            </a:r>
            <a:r>
              <a:rPr lang="fi-FI" dirty="0"/>
              <a:t> </a:t>
            </a:r>
            <a:r>
              <a:rPr lang="fi-FI" dirty="0" err="1"/>
              <a:t>user</a:t>
            </a:r>
            <a:r>
              <a:rPr lang="fi-FI" dirty="0"/>
              <a:t> atm</a:t>
            </a:r>
          </a:p>
          <a:p>
            <a:endParaRPr lang="fi-FI" dirty="0"/>
          </a:p>
          <a:p>
            <a:r>
              <a:rPr lang="fi-FI" dirty="0"/>
              <a:t>Master </a:t>
            </a:r>
            <a:r>
              <a:rPr lang="fi-FI" dirty="0" err="1"/>
              <a:t>password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no </a:t>
            </a:r>
            <a:r>
              <a:rPr lang="fi-FI" dirty="0" err="1"/>
              <a:t>functionality</a:t>
            </a:r>
            <a:r>
              <a:rPr lang="fi-FI" dirty="0"/>
              <a:t> to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reseted</a:t>
            </a:r>
            <a:r>
              <a:rPr lang="fi-FI" dirty="0"/>
              <a:t>, </a:t>
            </a:r>
            <a:r>
              <a:rPr lang="fi-FI" dirty="0" err="1"/>
              <a:t>all</a:t>
            </a:r>
            <a:r>
              <a:rPr lang="fi-FI" dirty="0"/>
              <a:t> data is </a:t>
            </a:r>
            <a:r>
              <a:rPr lang="fi-FI" dirty="0" err="1"/>
              <a:t>lost</a:t>
            </a:r>
            <a:r>
              <a:rPr lang="fi-FI" dirty="0"/>
              <a:t> </a:t>
            </a:r>
            <a:r>
              <a:rPr lang="fi-FI" dirty="0" err="1"/>
              <a:t>if</a:t>
            </a:r>
            <a:r>
              <a:rPr lang="fi-FI" dirty="0"/>
              <a:t> </a:t>
            </a:r>
            <a:r>
              <a:rPr lang="fi-FI" dirty="0" err="1"/>
              <a:t>forgotten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7D120-A71B-4047-AB70-FC2EE207E1C5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892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4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3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6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40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8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4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0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1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9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18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sodium.gitbook.io/do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tch2.or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6796024-DF17-4BB3-BF28-01E168A3C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3661" y="63892"/>
            <a:ext cx="2222198" cy="2133710"/>
          </a:xfrm>
          <a:custGeom>
            <a:avLst/>
            <a:gdLst>
              <a:gd name="connsiteX0" fmla="*/ 0 w 2222198"/>
              <a:gd name="connsiteY0" fmla="*/ 0 h 2133710"/>
              <a:gd name="connsiteX1" fmla="*/ 44227 w 2222198"/>
              <a:gd name="connsiteY1" fmla="*/ 2234 h 2133710"/>
              <a:gd name="connsiteX2" fmla="*/ 2193454 w 2222198"/>
              <a:gd name="connsiteY2" fmla="*/ 1945372 h 2133710"/>
              <a:gd name="connsiteX3" fmla="*/ 2222198 w 2222198"/>
              <a:gd name="connsiteY3" fmla="*/ 2133710 h 2133710"/>
              <a:gd name="connsiteX4" fmla="*/ 1394653 w 2222198"/>
              <a:gd name="connsiteY4" fmla="*/ 2133710 h 2133710"/>
              <a:gd name="connsiteX5" fmla="*/ 1391100 w 2222198"/>
              <a:gd name="connsiteY5" fmla="*/ 2110427 h 2133710"/>
              <a:gd name="connsiteX6" fmla="*/ 122376 w 2222198"/>
              <a:gd name="connsiteY6" fmla="*/ 841704 h 2133710"/>
              <a:gd name="connsiteX7" fmla="*/ 0 w 2222198"/>
              <a:gd name="connsiteY7" fmla="*/ 823027 h 213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198" h="2133710">
                <a:moveTo>
                  <a:pt x="0" y="0"/>
                </a:moveTo>
                <a:lnTo>
                  <a:pt x="44227" y="2234"/>
                </a:lnTo>
                <a:cubicBezTo>
                  <a:pt x="1114682" y="110944"/>
                  <a:pt x="1981368" y="908934"/>
                  <a:pt x="2193454" y="1945372"/>
                </a:cubicBezTo>
                <a:lnTo>
                  <a:pt x="2222198" y="2133710"/>
                </a:lnTo>
                <a:lnTo>
                  <a:pt x="1394653" y="2133710"/>
                </a:lnTo>
                <a:lnTo>
                  <a:pt x="1391100" y="2110427"/>
                </a:lnTo>
                <a:cubicBezTo>
                  <a:pt x="1260786" y="1473602"/>
                  <a:pt x="759202" y="972017"/>
                  <a:pt x="122376" y="841704"/>
                </a:cubicBezTo>
                <a:lnTo>
                  <a:pt x="0" y="8230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D238B391-6C2F-A29F-8066-214303ACA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fi-FI" dirty="0" err="1">
                <a:solidFill>
                  <a:schemeClr val="tx2">
                    <a:alpha val="80000"/>
                  </a:schemeClr>
                </a:solidFill>
              </a:rPr>
              <a:t>MyManager</a:t>
            </a:r>
            <a:endParaRPr lang="fi-FI" dirty="0">
              <a:solidFill>
                <a:schemeClr val="tx2">
                  <a:alpha val="80000"/>
                </a:schemeClr>
              </a:solidFill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B0921214-E2DC-643C-A3D5-51C275AAF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</p:spPr>
        <p:txBody>
          <a:bodyPr>
            <a:normAutofit/>
          </a:bodyPr>
          <a:lstStyle/>
          <a:p>
            <a:pPr algn="l"/>
            <a:r>
              <a:rPr lang="fi-FI" dirty="0" err="1">
                <a:solidFill>
                  <a:schemeClr val="tx2">
                    <a:alpha val="80000"/>
                  </a:schemeClr>
                </a:solidFill>
              </a:rPr>
              <a:t>Password</a:t>
            </a:r>
            <a:r>
              <a:rPr lang="fi-FI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fi-FI" dirty="0" err="1">
                <a:solidFill>
                  <a:schemeClr val="tx2">
                    <a:alpha val="80000"/>
                  </a:schemeClr>
                </a:solidFill>
              </a:rPr>
              <a:t>manager</a:t>
            </a:r>
            <a:endParaRPr lang="fi-FI" dirty="0">
              <a:solidFill>
                <a:schemeClr val="tx2">
                  <a:alpha val="8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0DB0E-4EBD-80F3-7EAD-B9CAB9516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27" r="30167" b="-1"/>
          <a:stretch>
            <a:fillRect/>
          </a:stretch>
        </p:blipFill>
        <p:spPr>
          <a:xfrm>
            <a:off x="6189156" y="-3440"/>
            <a:ext cx="6015813" cy="686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9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5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3" name="Rectangle 53">
            <a:extLst>
              <a:ext uri="{FF2B5EF4-FFF2-40B4-BE49-F238E27FC236}">
                <a16:creationId xmlns:a16="http://schemas.microsoft.com/office/drawing/2014/main" id="{43517DAF-BA0B-48C9-8544-2D295C68F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4" name="Right Triangle 5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: Shape 57">
            <a:extLst>
              <a:ext uri="{FF2B5EF4-FFF2-40B4-BE49-F238E27FC236}">
                <a16:creationId xmlns:a16="http://schemas.microsoft.com/office/drawing/2014/main" id="{320AB72C-20FB-424A-B116-9771F33F0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4" y="4062405"/>
            <a:ext cx="3509907" cy="2795595"/>
          </a:xfrm>
          <a:custGeom>
            <a:avLst/>
            <a:gdLst>
              <a:gd name="connsiteX0" fmla="*/ 1060477 w 3509907"/>
              <a:gd name="connsiteY0" fmla="*/ 0 h 2795595"/>
              <a:gd name="connsiteX1" fmla="*/ 3509907 w 3509907"/>
              <a:gd name="connsiteY1" fmla="*/ 2449430 h 2795595"/>
              <a:gd name="connsiteX2" fmla="*/ 3497261 w 3509907"/>
              <a:gd name="connsiteY2" fmla="*/ 2699870 h 2795595"/>
              <a:gd name="connsiteX3" fmla="*/ 3482652 w 3509907"/>
              <a:gd name="connsiteY3" fmla="*/ 2795595 h 2795595"/>
              <a:gd name="connsiteX4" fmla="*/ 2653271 w 3509907"/>
              <a:gd name="connsiteY4" fmla="*/ 2795595 h 2795595"/>
              <a:gd name="connsiteX5" fmla="*/ 2657790 w 3509907"/>
              <a:gd name="connsiteY5" fmla="*/ 2778020 h 2795595"/>
              <a:gd name="connsiteX6" fmla="*/ 2690914 w 3509907"/>
              <a:gd name="connsiteY6" fmla="*/ 2449430 h 2795595"/>
              <a:gd name="connsiteX7" fmla="*/ 1060476 w 3509907"/>
              <a:gd name="connsiteY7" fmla="*/ 818992 h 2795595"/>
              <a:gd name="connsiteX8" fmla="*/ 23366 w 3509907"/>
              <a:gd name="connsiteY8" fmla="*/ 1191305 h 2795595"/>
              <a:gd name="connsiteX9" fmla="*/ 0 w 3509907"/>
              <a:gd name="connsiteY9" fmla="*/ 1212542 h 2795595"/>
              <a:gd name="connsiteX10" fmla="*/ 0 w 3509907"/>
              <a:gd name="connsiteY10" fmla="*/ 244056 h 2795595"/>
              <a:gd name="connsiteX11" fmla="*/ 107048 w 3509907"/>
              <a:gd name="connsiteY11" fmla="*/ 192489 h 2795595"/>
              <a:gd name="connsiteX12" fmla="*/ 1060477 w 3509907"/>
              <a:gd name="connsiteY12" fmla="*/ 0 h 2795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09907" h="2795595">
                <a:moveTo>
                  <a:pt x="1060477" y="0"/>
                </a:moveTo>
                <a:cubicBezTo>
                  <a:pt x="2413260" y="0"/>
                  <a:pt x="3509907" y="1096647"/>
                  <a:pt x="3509907" y="2449430"/>
                </a:cubicBezTo>
                <a:cubicBezTo>
                  <a:pt x="3509907" y="2533979"/>
                  <a:pt x="3505624" y="2617528"/>
                  <a:pt x="3497261" y="2699870"/>
                </a:cubicBezTo>
                <a:lnTo>
                  <a:pt x="3482652" y="2795595"/>
                </a:lnTo>
                <a:lnTo>
                  <a:pt x="2653271" y="2795595"/>
                </a:lnTo>
                <a:lnTo>
                  <a:pt x="2657790" y="2778020"/>
                </a:lnTo>
                <a:cubicBezTo>
                  <a:pt x="2679509" y="2671883"/>
                  <a:pt x="2690914" y="2561988"/>
                  <a:pt x="2690914" y="2449430"/>
                </a:cubicBezTo>
                <a:cubicBezTo>
                  <a:pt x="2690914" y="1548964"/>
                  <a:pt x="1960942" y="818992"/>
                  <a:pt x="1060476" y="818992"/>
                </a:cubicBezTo>
                <a:cubicBezTo>
                  <a:pt x="666522" y="818992"/>
                  <a:pt x="305202" y="958713"/>
                  <a:pt x="23366" y="1191305"/>
                </a:cubicBezTo>
                <a:lnTo>
                  <a:pt x="0" y="1212542"/>
                </a:lnTo>
                <a:lnTo>
                  <a:pt x="0" y="244056"/>
                </a:lnTo>
                <a:lnTo>
                  <a:pt x="107048" y="192489"/>
                </a:lnTo>
                <a:cubicBezTo>
                  <a:pt x="400094" y="68541"/>
                  <a:pt x="722282" y="0"/>
                  <a:pt x="106047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Freeform: Shape 59">
            <a:extLst>
              <a:ext uri="{FF2B5EF4-FFF2-40B4-BE49-F238E27FC236}">
                <a16:creationId xmlns:a16="http://schemas.microsoft.com/office/drawing/2014/main" id="{9E38EE1F-4E4B-4F57-B909-C42294E31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90211" y="5571906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960FE3FB-A88D-4F7B-1E9A-6F79C024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8906"/>
            <a:ext cx="4712534" cy="2823325"/>
          </a:xfrm>
        </p:spPr>
        <p:txBody>
          <a:bodyPr anchor="t">
            <a:normAutofit/>
          </a:bodyPr>
          <a:lstStyle/>
          <a:p>
            <a:r>
              <a:rPr lang="fi-FI" dirty="0">
                <a:solidFill>
                  <a:schemeClr val="tx2"/>
                </a:solidFill>
              </a:rPr>
              <a:t>Programming </a:t>
            </a:r>
            <a:r>
              <a:rPr lang="fi-FI" dirty="0" err="1">
                <a:solidFill>
                  <a:schemeClr val="tx2"/>
                </a:solidFill>
              </a:rPr>
              <a:t>language</a:t>
            </a:r>
            <a:r>
              <a:rPr lang="fi-FI" dirty="0">
                <a:solidFill>
                  <a:schemeClr val="tx2"/>
                </a:solidFill>
              </a:rPr>
              <a:t> &amp; </a:t>
            </a:r>
            <a:r>
              <a:rPr lang="fi-FI" dirty="0" err="1">
                <a:solidFill>
                  <a:schemeClr val="tx2"/>
                </a:solidFill>
              </a:rPr>
              <a:t>libraries</a:t>
            </a:r>
            <a:r>
              <a:rPr lang="fi-FI" dirty="0">
                <a:solidFill>
                  <a:schemeClr val="tx2"/>
                </a:solidFill>
              </a:rPr>
              <a:t> </a:t>
            </a:r>
            <a:r>
              <a:rPr lang="fi-FI" dirty="0" err="1">
                <a:solidFill>
                  <a:schemeClr val="tx2"/>
                </a:solidFill>
              </a:rPr>
              <a:t>used</a:t>
            </a:r>
            <a:endParaRPr lang="fi-FI" dirty="0">
              <a:solidFill>
                <a:schemeClr val="tx2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A1C6BDB-B341-A693-A6CB-0265DF48C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59" y="728906"/>
            <a:ext cx="5813687" cy="2838357"/>
          </a:xfrm>
        </p:spPr>
        <p:txBody>
          <a:bodyPr anchor="t">
            <a:normAutofit/>
          </a:bodyPr>
          <a:lstStyle/>
          <a:p>
            <a:r>
              <a:rPr lang="fi-FI" sz="1800" dirty="0">
                <a:solidFill>
                  <a:schemeClr val="tx2"/>
                </a:solidFill>
              </a:rPr>
              <a:t>C++</a:t>
            </a:r>
          </a:p>
          <a:p>
            <a:r>
              <a:rPr lang="fi-FI" sz="1800" dirty="0" err="1">
                <a:solidFill>
                  <a:schemeClr val="tx2"/>
                </a:solidFill>
              </a:rPr>
              <a:t>Libsodium</a:t>
            </a:r>
            <a:r>
              <a:rPr lang="fi-FI" sz="1800" dirty="0">
                <a:solidFill>
                  <a:schemeClr val="tx2"/>
                </a:solidFill>
              </a:rPr>
              <a:t> (</a:t>
            </a:r>
            <a:r>
              <a:rPr lang="fi-FI" sz="1800" dirty="0">
                <a:solidFill>
                  <a:schemeClr val="tx2"/>
                </a:solidFill>
                <a:hlinkClick r:id="rId3"/>
              </a:rPr>
              <a:t>https://libsodium.gitbook.io/doc</a:t>
            </a:r>
            <a:r>
              <a:rPr lang="fi-FI" sz="1800" dirty="0">
                <a:solidFill>
                  <a:schemeClr val="tx2"/>
                </a:solidFill>
              </a:rPr>
              <a:t>)</a:t>
            </a:r>
          </a:p>
          <a:p>
            <a:r>
              <a:rPr lang="fi-FI" sz="1800" dirty="0">
                <a:solidFill>
                  <a:schemeClr val="tx2"/>
                </a:solidFill>
              </a:rPr>
              <a:t>Catch2 (</a:t>
            </a:r>
            <a:r>
              <a:rPr lang="fi-FI" sz="1800" dirty="0">
                <a:solidFill>
                  <a:schemeClr val="tx2"/>
                </a:solidFill>
                <a:hlinkClick r:id="rId4"/>
              </a:rPr>
              <a:t>https://catch2.org/</a:t>
            </a:r>
            <a:r>
              <a:rPr lang="fi-FI" sz="1800" dirty="0">
                <a:solidFill>
                  <a:schemeClr val="tx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50859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D79C9-FD78-4D11-A424-0002509BD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6DB01C-9C1F-4164-99EC-F0C2A75C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00" y="10905"/>
            <a:ext cx="2452128" cy="3034118"/>
          </a:xfrm>
          <a:custGeom>
            <a:avLst/>
            <a:gdLst>
              <a:gd name="connsiteX0" fmla="*/ 1346716 w 2452128"/>
              <a:gd name="connsiteY0" fmla="*/ 0 h 3034118"/>
              <a:gd name="connsiteX1" fmla="*/ 2306895 w 2452128"/>
              <a:gd name="connsiteY1" fmla="*/ 0 h 3034118"/>
              <a:gd name="connsiteX2" fmla="*/ 2351179 w 2452128"/>
              <a:gd name="connsiteY2" fmla="*/ 120993 h 3034118"/>
              <a:gd name="connsiteX3" fmla="*/ 2452128 w 2452128"/>
              <a:gd name="connsiteY3" fmla="*/ 788709 h 3034118"/>
              <a:gd name="connsiteX4" fmla="*/ 206719 w 2452128"/>
              <a:gd name="connsiteY4" fmla="*/ 3034118 h 3034118"/>
              <a:gd name="connsiteX5" fmla="*/ 0 w 2452128"/>
              <a:gd name="connsiteY5" fmla="*/ 3023680 h 3034118"/>
              <a:gd name="connsiteX6" fmla="*/ 0 w 2452128"/>
              <a:gd name="connsiteY6" fmla="*/ 2158450 h 3034118"/>
              <a:gd name="connsiteX7" fmla="*/ 64926 w 2452128"/>
              <a:gd name="connsiteY7" fmla="*/ 2168359 h 3034118"/>
              <a:gd name="connsiteX8" fmla="*/ 206719 w 2452128"/>
              <a:gd name="connsiteY8" fmla="*/ 2175519 h 3034118"/>
              <a:gd name="connsiteX9" fmla="*/ 1593529 w 2452128"/>
              <a:gd name="connsiteY9" fmla="*/ 788709 h 3034118"/>
              <a:gd name="connsiteX10" fmla="*/ 1356684 w 2452128"/>
              <a:gd name="connsiteY10" fmla="*/ 13330 h 303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52128" h="3034118">
                <a:moveTo>
                  <a:pt x="1346716" y="0"/>
                </a:moveTo>
                <a:lnTo>
                  <a:pt x="2306895" y="0"/>
                </a:lnTo>
                <a:lnTo>
                  <a:pt x="2351179" y="120993"/>
                </a:lnTo>
                <a:cubicBezTo>
                  <a:pt x="2416786" y="331924"/>
                  <a:pt x="2452128" y="556189"/>
                  <a:pt x="2452128" y="788709"/>
                </a:cubicBezTo>
                <a:cubicBezTo>
                  <a:pt x="2452128" y="2028814"/>
                  <a:pt x="1446824" y="3034118"/>
                  <a:pt x="206719" y="3034118"/>
                </a:cubicBezTo>
                <a:lnTo>
                  <a:pt x="0" y="3023680"/>
                </a:lnTo>
                <a:lnTo>
                  <a:pt x="0" y="2158450"/>
                </a:lnTo>
                <a:lnTo>
                  <a:pt x="64926" y="2168359"/>
                </a:lnTo>
                <a:cubicBezTo>
                  <a:pt x="111546" y="2173094"/>
                  <a:pt x="158850" y="2175519"/>
                  <a:pt x="206719" y="2175519"/>
                </a:cubicBezTo>
                <a:cubicBezTo>
                  <a:pt x="972633" y="2175519"/>
                  <a:pt x="1593529" y="1554623"/>
                  <a:pt x="1593529" y="788709"/>
                </a:cubicBezTo>
                <a:cubicBezTo>
                  <a:pt x="1593529" y="501491"/>
                  <a:pt x="1506216" y="234667"/>
                  <a:pt x="1356684" y="1333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9796AB-81F4-4FC8-8171-F4BECA869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4240" y="0"/>
            <a:ext cx="4893352" cy="2394886"/>
          </a:xfrm>
          <a:custGeom>
            <a:avLst/>
            <a:gdLst>
              <a:gd name="connsiteX0" fmla="*/ 0 w 4893352"/>
              <a:gd name="connsiteY0" fmla="*/ 0 h 2394886"/>
              <a:gd name="connsiteX1" fmla="*/ 818991 w 4893352"/>
              <a:gd name="connsiteY1" fmla="*/ 0 h 2394886"/>
              <a:gd name="connsiteX2" fmla="*/ 824655 w 4893352"/>
              <a:gd name="connsiteY2" fmla="*/ 112159 h 2394886"/>
              <a:gd name="connsiteX3" fmla="*/ 2446675 w 4893352"/>
              <a:gd name="connsiteY3" fmla="*/ 1575894 h 2394886"/>
              <a:gd name="connsiteX4" fmla="*/ 4068695 w 4893352"/>
              <a:gd name="connsiteY4" fmla="*/ 112159 h 2394886"/>
              <a:gd name="connsiteX5" fmla="*/ 4074359 w 4893352"/>
              <a:gd name="connsiteY5" fmla="*/ 0 h 2394886"/>
              <a:gd name="connsiteX6" fmla="*/ 4893352 w 4893352"/>
              <a:gd name="connsiteY6" fmla="*/ 0 h 2394886"/>
              <a:gd name="connsiteX7" fmla="*/ 4883460 w 4893352"/>
              <a:gd name="connsiteY7" fmla="*/ 195896 h 2394886"/>
              <a:gd name="connsiteX8" fmla="*/ 2446676 w 4893352"/>
              <a:gd name="connsiteY8" fmla="*/ 2394886 h 2394886"/>
              <a:gd name="connsiteX9" fmla="*/ 9892 w 4893352"/>
              <a:gd name="connsiteY9" fmla="*/ 195896 h 2394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93352" h="2394886">
                <a:moveTo>
                  <a:pt x="0" y="0"/>
                </a:moveTo>
                <a:lnTo>
                  <a:pt x="818991" y="0"/>
                </a:lnTo>
                <a:lnTo>
                  <a:pt x="824655" y="112159"/>
                </a:lnTo>
                <a:cubicBezTo>
                  <a:pt x="908150" y="934317"/>
                  <a:pt x="1602488" y="1575894"/>
                  <a:pt x="2446675" y="1575894"/>
                </a:cubicBezTo>
                <a:cubicBezTo>
                  <a:pt x="3290862" y="1575894"/>
                  <a:pt x="3985201" y="934317"/>
                  <a:pt x="4068695" y="112159"/>
                </a:cubicBezTo>
                <a:lnTo>
                  <a:pt x="4074359" y="0"/>
                </a:lnTo>
                <a:lnTo>
                  <a:pt x="4893352" y="0"/>
                </a:lnTo>
                <a:lnTo>
                  <a:pt x="4883460" y="195896"/>
                </a:lnTo>
                <a:cubicBezTo>
                  <a:pt x="4758025" y="1431036"/>
                  <a:pt x="3714910" y="2394886"/>
                  <a:pt x="2446676" y="2394886"/>
                </a:cubicBezTo>
                <a:cubicBezTo>
                  <a:pt x="1178442" y="2394886"/>
                  <a:pt x="135328" y="1431036"/>
                  <a:pt x="9892" y="1958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8A66395B-81BE-639D-BDD1-0966795F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511417"/>
            <a:ext cx="4712534" cy="2740908"/>
          </a:xfrm>
        </p:spPr>
        <p:txBody>
          <a:bodyPr anchor="t">
            <a:normAutofit/>
          </a:bodyPr>
          <a:lstStyle/>
          <a:p>
            <a:r>
              <a:rPr lang="fi-FI" dirty="0">
                <a:solidFill>
                  <a:schemeClr val="tx2"/>
                </a:solidFill>
              </a:rPr>
              <a:t>Security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E530F50-BE33-DC52-255B-C079F19DB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59" y="3511417"/>
            <a:ext cx="5813687" cy="2755940"/>
          </a:xfrm>
        </p:spPr>
        <p:txBody>
          <a:bodyPr anchor="t">
            <a:normAutofit/>
          </a:bodyPr>
          <a:lstStyle/>
          <a:p>
            <a:r>
              <a:rPr lang="fi-FI" sz="1800" dirty="0" err="1">
                <a:solidFill>
                  <a:schemeClr val="tx2"/>
                </a:solidFill>
              </a:rPr>
              <a:t>Own</a:t>
            </a:r>
            <a:r>
              <a:rPr lang="fi-FI" sz="1800" dirty="0">
                <a:solidFill>
                  <a:schemeClr val="tx2"/>
                </a:solidFill>
              </a:rPr>
              <a:t> </a:t>
            </a:r>
            <a:r>
              <a:rPr lang="fi-FI" sz="1800" dirty="0" err="1">
                <a:solidFill>
                  <a:schemeClr val="tx2"/>
                </a:solidFill>
              </a:rPr>
              <a:t>crypto</a:t>
            </a:r>
            <a:r>
              <a:rPr lang="fi-FI" sz="1800" dirty="0">
                <a:solidFill>
                  <a:schemeClr val="tx2"/>
                </a:solidFill>
              </a:rPr>
              <a:t> </a:t>
            </a:r>
            <a:r>
              <a:rPr lang="fi-FI" sz="1800" dirty="0" err="1">
                <a:solidFill>
                  <a:schemeClr val="tx2"/>
                </a:solidFill>
              </a:rPr>
              <a:t>implementation</a:t>
            </a:r>
            <a:r>
              <a:rPr lang="fi-FI" sz="1800" dirty="0">
                <a:solidFill>
                  <a:schemeClr val="tx2"/>
                </a:solidFill>
              </a:rPr>
              <a:t> -&gt; </a:t>
            </a:r>
            <a:r>
              <a:rPr lang="fi-FI" sz="1800" dirty="0" err="1">
                <a:solidFill>
                  <a:schemeClr val="tx2"/>
                </a:solidFill>
              </a:rPr>
              <a:t>Libsodium</a:t>
            </a:r>
            <a:endParaRPr lang="fi-FI" sz="1800" dirty="0">
              <a:solidFill>
                <a:schemeClr val="tx2"/>
              </a:solidFill>
            </a:endParaRPr>
          </a:p>
          <a:p>
            <a:r>
              <a:rPr lang="fi-FI" sz="1800" dirty="0" err="1">
                <a:solidFill>
                  <a:schemeClr val="tx2"/>
                </a:solidFill>
              </a:rPr>
              <a:t>Password-based</a:t>
            </a:r>
            <a:r>
              <a:rPr lang="fi-FI" sz="1800" dirty="0">
                <a:solidFill>
                  <a:schemeClr val="tx2"/>
                </a:solidFill>
              </a:rPr>
              <a:t> </a:t>
            </a:r>
            <a:r>
              <a:rPr lang="fi-FI" sz="1800" dirty="0" err="1">
                <a:solidFill>
                  <a:schemeClr val="tx2"/>
                </a:solidFill>
              </a:rPr>
              <a:t>key</a:t>
            </a:r>
            <a:r>
              <a:rPr lang="fi-FI" sz="1800" dirty="0">
                <a:solidFill>
                  <a:schemeClr val="tx2"/>
                </a:solidFill>
              </a:rPr>
              <a:t> </a:t>
            </a:r>
            <a:r>
              <a:rPr lang="fi-FI" sz="1800" dirty="0" err="1">
                <a:solidFill>
                  <a:schemeClr val="tx2"/>
                </a:solidFill>
              </a:rPr>
              <a:t>derivation</a:t>
            </a:r>
            <a:endParaRPr lang="fi-FI" sz="1800" dirty="0">
              <a:solidFill>
                <a:schemeClr val="tx2"/>
              </a:solidFill>
            </a:endParaRPr>
          </a:p>
          <a:p>
            <a:r>
              <a:rPr lang="fi-FI" sz="1800" dirty="0">
                <a:solidFill>
                  <a:schemeClr val="tx2"/>
                </a:solidFill>
              </a:rPr>
              <a:t>Salt, </a:t>
            </a:r>
            <a:r>
              <a:rPr lang="fi-FI" sz="1800" dirty="0" err="1">
                <a:solidFill>
                  <a:schemeClr val="tx2"/>
                </a:solidFill>
              </a:rPr>
              <a:t>nonce</a:t>
            </a:r>
            <a:endParaRPr lang="fi-FI" sz="1800" dirty="0">
              <a:solidFill>
                <a:schemeClr val="tx2"/>
              </a:solidFill>
            </a:endParaRPr>
          </a:p>
          <a:p>
            <a:r>
              <a:rPr lang="fi-FI" sz="1800" dirty="0">
                <a:solidFill>
                  <a:schemeClr val="tx2"/>
                </a:solidFill>
              </a:rPr>
              <a:t>File </a:t>
            </a:r>
            <a:r>
              <a:rPr lang="fi-FI" sz="1800" dirty="0" err="1">
                <a:solidFill>
                  <a:schemeClr val="tx2"/>
                </a:solidFill>
              </a:rPr>
              <a:t>format</a:t>
            </a:r>
            <a:r>
              <a:rPr lang="fi-FI" sz="1800" dirty="0">
                <a:solidFill>
                  <a:schemeClr val="tx2"/>
                </a:solidFill>
              </a:rPr>
              <a:t> design</a:t>
            </a:r>
          </a:p>
          <a:p>
            <a:r>
              <a:rPr lang="fi-FI" sz="1800" dirty="0">
                <a:solidFill>
                  <a:schemeClr val="tx2"/>
                </a:solidFill>
              </a:rPr>
              <a:t>Memory </a:t>
            </a:r>
            <a:r>
              <a:rPr lang="fi-FI" sz="1800" dirty="0" err="1">
                <a:solidFill>
                  <a:schemeClr val="tx2"/>
                </a:solidFill>
              </a:rPr>
              <a:t>leak</a:t>
            </a:r>
            <a:r>
              <a:rPr lang="fi-FI" sz="1800" dirty="0">
                <a:solidFill>
                  <a:schemeClr val="tx2"/>
                </a:solidFill>
              </a:rPr>
              <a:t> </a:t>
            </a:r>
            <a:r>
              <a:rPr lang="fi-FI" sz="1800" dirty="0" err="1">
                <a:solidFill>
                  <a:schemeClr val="tx2"/>
                </a:solidFill>
              </a:rPr>
              <a:t>preventions</a:t>
            </a:r>
            <a:endParaRPr lang="fi-FI" sz="1800" dirty="0">
              <a:solidFill>
                <a:schemeClr val="tx2"/>
              </a:solidFill>
            </a:endParaRPr>
          </a:p>
          <a:p>
            <a:endParaRPr lang="fi-FI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25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D79C9-FD78-4D11-A424-0002509BD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6DB01C-9C1F-4164-99EC-F0C2A75C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00" y="10905"/>
            <a:ext cx="2452128" cy="3034118"/>
          </a:xfrm>
          <a:custGeom>
            <a:avLst/>
            <a:gdLst>
              <a:gd name="connsiteX0" fmla="*/ 1346716 w 2452128"/>
              <a:gd name="connsiteY0" fmla="*/ 0 h 3034118"/>
              <a:gd name="connsiteX1" fmla="*/ 2306895 w 2452128"/>
              <a:gd name="connsiteY1" fmla="*/ 0 h 3034118"/>
              <a:gd name="connsiteX2" fmla="*/ 2351179 w 2452128"/>
              <a:gd name="connsiteY2" fmla="*/ 120993 h 3034118"/>
              <a:gd name="connsiteX3" fmla="*/ 2452128 w 2452128"/>
              <a:gd name="connsiteY3" fmla="*/ 788709 h 3034118"/>
              <a:gd name="connsiteX4" fmla="*/ 206719 w 2452128"/>
              <a:gd name="connsiteY4" fmla="*/ 3034118 h 3034118"/>
              <a:gd name="connsiteX5" fmla="*/ 0 w 2452128"/>
              <a:gd name="connsiteY5" fmla="*/ 3023680 h 3034118"/>
              <a:gd name="connsiteX6" fmla="*/ 0 w 2452128"/>
              <a:gd name="connsiteY6" fmla="*/ 2158450 h 3034118"/>
              <a:gd name="connsiteX7" fmla="*/ 64926 w 2452128"/>
              <a:gd name="connsiteY7" fmla="*/ 2168359 h 3034118"/>
              <a:gd name="connsiteX8" fmla="*/ 206719 w 2452128"/>
              <a:gd name="connsiteY8" fmla="*/ 2175519 h 3034118"/>
              <a:gd name="connsiteX9" fmla="*/ 1593529 w 2452128"/>
              <a:gd name="connsiteY9" fmla="*/ 788709 h 3034118"/>
              <a:gd name="connsiteX10" fmla="*/ 1356684 w 2452128"/>
              <a:gd name="connsiteY10" fmla="*/ 13330 h 303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52128" h="3034118">
                <a:moveTo>
                  <a:pt x="1346716" y="0"/>
                </a:moveTo>
                <a:lnTo>
                  <a:pt x="2306895" y="0"/>
                </a:lnTo>
                <a:lnTo>
                  <a:pt x="2351179" y="120993"/>
                </a:lnTo>
                <a:cubicBezTo>
                  <a:pt x="2416786" y="331924"/>
                  <a:pt x="2452128" y="556189"/>
                  <a:pt x="2452128" y="788709"/>
                </a:cubicBezTo>
                <a:cubicBezTo>
                  <a:pt x="2452128" y="2028814"/>
                  <a:pt x="1446824" y="3034118"/>
                  <a:pt x="206719" y="3034118"/>
                </a:cubicBezTo>
                <a:lnTo>
                  <a:pt x="0" y="3023680"/>
                </a:lnTo>
                <a:lnTo>
                  <a:pt x="0" y="2158450"/>
                </a:lnTo>
                <a:lnTo>
                  <a:pt x="64926" y="2168359"/>
                </a:lnTo>
                <a:cubicBezTo>
                  <a:pt x="111546" y="2173094"/>
                  <a:pt x="158850" y="2175519"/>
                  <a:pt x="206719" y="2175519"/>
                </a:cubicBezTo>
                <a:cubicBezTo>
                  <a:pt x="972633" y="2175519"/>
                  <a:pt x="1593529" y="1554623"/>
                  <a:pt x="1593529" y="788709"/>
                </a:cubicBezTo>
                <a:cubicBezTo>
                  <a:pt x="1593529" y="501491"/>
                  <a:pt x="1506216" y="234667"/>
                  <a:pt x="1356684" y="1333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9796AB-81F4-4FC8-8171-F4BECA869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4240" y="0"/>
            <a:ext cx="4893352" cy="2394886"/>
          </a:xfrm>
          <a:custGeom>
            <a:avLst/>
            <a:gdLst>
              <a:gd name="connsiteX0" fmla="*/ 0 w 4893352"/>
              <a:gd name="connsiteY0" fmla="*/ 0 h 2394886"/>
              <a:gd name="connsiteX1" fmla="*/ 818991 w 4893352"/>
              <a:gd name="connsiteY1" fmla="*/ 0 h 2394886"/>
              <a:gd name="connsiteX2" fmla="*/ 824655 w 4893352"/>
              <a:gd name="connsiteY2" fmla="*/ 112159 h 2394886"/>
              <a:gd name="connsiteX3" fmla="*/ 2446675 w 4893352"/>
              <a:gd name="connsiteY3" fmla="*/ 1575894 h 2394886"/>
              <a:gd name="connsiteX4" fmla="*/ 4068695 w 4893352"/>
              <a:gd name="connsiteY4" fmla="*/ 112159 h 2394886"/>
              <a:gd name="connsiteX5" fmla="*/ 4074359 w 4893352"/>
              <a:gd name="connsiteY5" fmla="*/ 0 h 2394886"/>
              <a:gd name="connsiteX6" fmla="*/ 4893352 w 4893352"/>
              <a:gd name="connsiteY6" fmla="*/ 0 h 2394886"/>
              <a:gd name="connsiteX7" fmla="*/ 4883460 w 4893352"/>
              <a:gd name="connsiteY7" fmla="*/ 195896 h 2394886"/>
              <a:gd name="connsiteX8" fmla="*/ 2446676 w 4893352"/>
              <a:gd name="connsiteY8" fmla="*/ 2394886 h 2394886"/>
              <a:gd name="connsiteX9" fmla="*/ 9892 w 4893352"/>
              <a:gd name="connsiteY9" fmla="*/ 195896 h 2394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93352" h="2394886">
                <a:moveTo>
                  <a:pt x="0" y="0"/>
                </a:moveTo>
                <a:lnTo>
                  <a:pt x="818991" y="0"/>
                </a:lnTo>
                <a:lnTo>
                  <a:pt x="824655" y="112159"/>
                </a:lnTo>
                <a:cubicBezTo>
                  <a:pt x="908150" y="934317"/>
                  <a:pt x="1602488" y="1575894"/>
                  <a:pt x="2446675" y="1575894"/>
                </a:cubicBezTo>
                <a:cubicBezTo>
                  <a:pt x="3290862" y="1575894"/>
                  <a:pt x="3985201" y="934317"/>
                  <a:pt x="4068695" y="112159"/>
                </a:cubicBezTo>
                <a:lnTo>
                  <a:pt x="4074359" y="0"/>
                </a:lnTo>
                <a:lnTo>
                  <a:pt x="4893352" y="0"/>
                </a:lnTo>
                <a:lnTo>
                  <a:pt x="4883460" y="195896"/>
                </a:lnTo>
                <a:cubicBezTo>
                  <a:pt x="4758025" y="1431036"/>
                  <a:pt x="3714910" y="2394886"/>
                  <a:pt x="2446676" y="2394886"/>
                </a:cubicBezTo>
                <a:cubicBezTo>
                  <a:pt x="1178442" y="2394886"/>
                  <a:pt x="135328" y="1431036"/>
                  <a:pt x="9892" y="1958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B71746C9-B9BA-F627-DE85-DBF045E9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511417"/>
            <a:ext cx="4712534" cy="2740908"/>
          </a:xfrm>
        </p:spPr>
        <p:txBody>
          <a:bodyPr anchor="t">
            <a:normAutofit/>
          </a:bodyPr>
          <a:lstStyle/>
          <a:p>
            <a:r>
              <a:rPr lang="fi-FI">
                <a:solidFill>
                  <a:schemeClr val="tx2"/>
                </a:solidFill>
              </a:rPr>
              <a:t>Testing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F54DFDB-BFF9-1595-74C2-D471BE61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59" y="3511417"/>
            <a:ext cx="5813687" cy="2755940"/>
          </a:xfrm>
        </p:spPr>
        <p:txBody>
          <a:bodyPr anchor="t">
            <a:normAutofit/>
          </a:bodyPr>
          <a:lstStyle/>
          <a:p>
            <a:r>
              <a:rPr lang="fi-FI" sz="1800" dirty="0">
                <a:solidFill>
                  <a:schemeClr val="tx2"/>
                </a:solidFill>
              </a:rPr>
              <a:t>In </a:t>
            </a:r>
            <a:r>
              <a:rPr lang="fi-FI" sz="1800" dirty="0" err="1">
                <a:solidFill>
                  <a:schemeClr val="tx2"/>
                </a:solidFill>
              </a:rPr>
              <a:t>progress</a:t>
            </a:r>
            <a:endParaRPr lang="fi-FI" sz="1800" dirty="0">
              <a:solidFill>
                <a:schemeClr val="tx2"/>
              </a:solidFill>
            </a:endParaRPr>
          </a:p>
          <a:p>
            <a:r>
              <a:rPr lang="fi-FI" sz="1800" dirty="0">
                <a:solidFill>
                  <a:schemeClr val="tx2"/>
                </a:solidFill>
              </a:rPr>
              <a:t>Pipeline</a:t>
            </a:r>
          </a:p>
          <a:p>
            <a:r>
              <a:rPr lang="fi-FI" sz="1800" dirty="0">
                <a:solidFill>
                  <a:schemeClr val="tx2"/>
                </a:solidFill>
              </a:rPr>
              <a:t>Catch2</a:t>
            </a:r>
          </a:p>
        </p:txBody>
      </p:sp>
    </p:spTree>
    <p:extLst>
      <p:ext uri="{BB962C8B-B14F-4D97-AF65-F5344CB8AC3E}">
        <p14:creationId xmlns:p14="http://schemas.microsoft.com/office/powerpoint/2010/main" val="245847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D79C9-FD78-4D11-A424-0002509BD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6368BA-0A3E-4AE0-8333-2364F90C1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3252" y="-6055"/>
            <a:ext cx="1220861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5F41BED2-3467-5D4B-DA67-3FAF5300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511417"/>
            <a:ext cx="4712534" cy="2740908"/>
          </a:xfrm>
        </p:spPr>
        <p:txBody>
          <a:bodyPr anchor="t">
            <a:normAutofit/>
          </a:bodyPr>
          <a:lstStyle/>
          <a:p>
            <a:r>
              <a:rPr lang="fi-FI">
                <a:solidFill>
                  <a:schemeClr val="tx2"/>
                </a:solidFill>
              </a:rPr>
              <a:t>Use of AI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494BA08-B88C-30CB-734C-08A507B7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59" y="3511417"/>
            <a:ext cx="5813687" cy="2755940"/>
          </a:xfrm>
        </p:spPr>
        <p:txBody>
          <a:bodyPr anchor="t">
            <a:normAutofit/>
          </a:bodyPr>
          <a:lstStyle/>
          <a:p>
            <a:r>
              <a:rPr lang="fi-FI" sz="1800" dirty="0" err="1">
                <a:solidFill>
                  <a:schemeClr val="tx2"/>
                </a:solidFill>
              </a:rPr>
              <a:t>Suggestions</a:t>
            </a:r>
            <a:r>
              <a:rPr lang="fi-FI" sz="1800" dirty="0">
                <a:solidFill>
                  <a:schemeClr val="tx2"/>
                </a:solidFill>
              </a:rPr>
              <a:t> for </a:t>
            </a:r>
            <a:r>
              <a:rPr lang="fi-FI" sz="1800" dirty="0" err="1">
                <a:solidFill>
                  <a:schemeClr val="tx2"/>
                </a:solidFill>
              </a:rPr>
              <a:t>next</a:t>
            </a:r>
            <a:r>
              <a:rPr lang="fi-FI" sz="1800" dirty="0">
                <a:solidFill>
                  <a:schemeClr val="tx2"/>
                </a:solidFill>
              </a:rPr>
              <a:t> </a:t>
            </a:r>
            <a:r>
              <a:rPr lang="fi-FI" sz="1800" dirty="0" err="1">
                <a:solidFill>
                  <a:schemeClr val="tx2"/>
                </a:solidFill>
              </a:rPr>
              <a:t>steps</a:t>
            </a:r>
            <a:endParaRPr lang="fi-FI" sz="1800" dirty="0">
              <a:solidFill>
                <a:schemeClr val="tx2"/>
              </a:solidFill>
            </a:endParaRPr>
          </a:p>
          <a:p>
            <a:r>
              <a:rPr lang="fi-FI" sz="1800" dirty="0">
                <a:solidFill>
                  <a:schemeClr val="tx2"/>
                </a:solidFill>
              </a:rPr>
              <a:t>Programming </a:t>
            </a:r>
            <a:r>
              <a:rPr lang="fi-FI" sz="1800" dirty="0" err="1">
                <a:solidFill>
                  <a:schemeClr val="tx2"/>
                </a:solidFill>
              </a:rPr>
              <a:t>advice</a:t>
            </a:r>
            <a:endParaRPr lang="fi-FI" sz="1800" dirty="0">
              <a:solidFill>
                <a:schemeClr val="tx2"/>
              </a:solidFill>
            </a:endParaRPr>
          </a:p>
          <a:p>
            <a:endParaRPr lang="fi-FI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65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EE60796-BC52-4154-A3A9-773DE828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0" name="Right Triangle 159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51324" y="1555703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Flowchart: Document 161">
            <a:extLst>
              <a:ext uri="{FF2B5EF4-FFF2-40B4-BE49-F238E27FC236}">
                <a16:creationId xmlns:a16="http://schemas.microsoft.com/office/drawing/2014/main" id="{BFEC1042-3FDC-47A3-BCD7-CA9D052F9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55130C7C-49C3-709E-DD60-90549E42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2348"/>
            <a:ext cx="6159160" cy="22407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Flaws</a:t>
            </a:r>
          </a:p>
        </p:txBody>
      </p:sp>
      <p:sp>
        <p:nvSpPr>
          <p:cNvPr id="153" name="Content Placeholder 152">
            <a:extLst>
              <a:ext uri="{FF2B5EF4-FFF2-40B4-BE49-F238E27FC236}">
                <a16:creationId xmlns:a16="http://schemas.microsoft.com/office/drawing/2014/main" id="{C7B11033-FEB0-3A17-3899-0072B6D3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64832"/>
            <a:ext cx="6159160" cy="298012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User input </a:t>
            </a:r>
          </a:p>
          <a:p>
            <a:r>
              <a:rPr lang="en-US" sz="1800" dirty="0">
                <a:solidFill>
                  <a:schemeClr val="tx2"/>
                </a:solidFill>
              </a:rPr>
              <a:t>Master password</a:t>
            </a:r>
          </a:p>
        </p:txBody>
      </p:sp>
      <p:pic>
        <p:nvPicPr>
          <p:cNvPr id="7" name="Sisällön paikkamerkki 6" descr="Why does it have to be so complicated? 😂 #TechStruggles #PasswordProblems  #RelatableMemes #MondayMood #DigitalLife">
            <a:extLst>
              <a:ext uri="{FF2B5EF4-FFF2-40B4-BE49-F238E27FC236}">
                <a16:creationId xmlns:a16="http://schemas.microsoft.com/office/drawing/2014/main" id="{0A5203DA-F2C5-C196-4BFF-F14917582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073" y="721081"/>
            <a:ext cx="4964497" cy="55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29063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331</Words>
  <Application>Microsoft Office PowerPoint</Application>
  <PresentationFormat>Laajakuva</PresentationFormat>
  <Paragraphs>68</Paragraphs>
  <Slides>6</Slides>
  <Notes>6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1" baseType="lpstr">
      <vt:lpstr>Aptos</vt:lpstr>
      <vt:lpstr>Arial</vt:lpstr>
      <vt:lpstr>Avenir Next LT Pro</vt:lpstr>
      <vt:lpstr>Posterama</vt:lpstr>
      <vt:lpstr>SineVTI</vt:lpstr>
      <vt:lpstr>MyManager</vt:lpstr>
      <vt:lpstr>Programming language &amp; libraries used</vt:lpstr>
      <vt:lpstr>Security</vt:lpstr>
      <vt:lpstr>Testing</vt:lpstr>
      <vt:lpstr>Use of AI</vt:lpstr>
      <vt:lpstr>Flaws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Heikkilä</dc:creator>
  <cp:lastModifiedBy>Toni Heikkilä</cp:lastModifiedBy>
  <cp:revision>1</cp:revision>
  <dcterms:created xsi:type="dcterms:W3CDTF">2026-05-06T07:15:23Z</dcterms:created>
  <dcterms:modified xsi:type="dcterms:W3CDTF">2026-05-06T18:21:32Z</dcterms:modified>
</cp:coreProperties>
</file>